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Cover slide. PIO Daily Production Overall Report for May 2026. Key highlights: 100% fulfillment, 15 MTD back jobs, 96.1% manpower utilization, 110 YTD Kaizen ideas.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PIO Production Fulfillment. All 4 plants achieved 100% MTD fulfillment. Plant 2 leads with highest accessorization percentage at 44%. Total MTD pull: 11,290 of 11,291 planned.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Back Jobs and Quality Index. 15 MTD back jobs recorded, 0 today. Quality Index at 99.70% — above the 99.50% target. MTD production: 11,290 vehicles.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Damages and Damage Ratio. PIO MTD damages: 3 vehicles. Production MTD damages: 2. Both DR% values (0.03% and 0.02%) are well below the 0.07% target.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Damage Details. Total 3 MTD damages. Dominant type is Scratch (approximately 60% of cases). Trend is stable with no acceleration. 9 working days remaining in May.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Pending Vehicles. 5 vehicles pending: 1 April carry-over (VELOZ, 40 days aging — escalation required), 4 May cases (1–6 days aging, no escalation yet). Majority: CAMRY technical issues.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VLD Damage Leakage. 319 total cases MTD. Scratch accounts for 59% (188 cases), Dent 29.5% (94 cases). These two types represent 88.5% of leakage — handling and transit protocols are the primary mitigation lever.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Manpower Utilization. 307 attended vs 295 planned — 96.1% utilization with +12 surplus. Plants 2 and 3 at 100%. Plants 1 and 4 at 96–97%. Consistent performance across the month.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Incidents. Zero MTD incidents across all categories: Fatal, Near-Fatal, and Stop-6. Zero Harm status maintained throughout May.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Kaizen Ideas. 8 MTD ideas submitted (below 22-idea monthly average). YTD total: 110. March was the peak month at 60 ideas. 9 working days remain to close the gap.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Other Job. 17 manpower assignments to non-standard tasks across Plants 1–4. Dominant tasks: Refurbishment and DIO (7 assignments), Buffer Inspector (3), Sensor Holing (3). Total: 144.5 hours contributed.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Thank you and summary. All key metrics recap: Fulfillment 100%, Quality Index 99.70%, 0 Incidents, 96.1% Manpower, 110 YTD Kaizen.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0" y="5524500"/>
            <a:ext cx="3048000" cy="1333500"/>
          </a:xfrm>
          <a:custGeom>
            <a:avLst/>
            <a:gdLst/>
            <a:ahLst/>
            <a:cxnLst/>
            <a:rect l="l" t="t" r="r" b="b"/>
            <a:pathLst>
              <a:path w="3048000" h="1333500">
                <a:moveTo>
                  <a:pt x="0" y="0"/>
                </a:moveTo>
                <a:lnTo>
                  <a:pt x="3048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ED6B13">
              <a:alpha val="90000"/>
            </a:srgbClr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571500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0" y="0"/>
                </a:moveTo>
                <a:lnTo>
                  <a:pt x="26670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1C303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1C3039">
              <a:alpha val="5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685800" y="1143000"/>
            <a:ext cx="38100" cy="190500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2965" y="1620202"/>
            <a:ext cx="1548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PIO DAILY PRODUCTION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770" y="1864995"/>
            <a:ext cx="400344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Overall Report</a:t>
            </a:r>
          </a:p>
        </p:txBody>
      </p:sp>
      <p:sp>
        <p:nvSpPr>
          <p:cNvPr id="9" name="Rectangle 9"/>
          <p:cNvSpPr/>
          <p:nvPr/>
        </p:nvSpPr>
        <p:spPr>
          <a:xfrm>
            <a:off x="876300" y="2571750"/>
            <a:ext cx="2095500" cy="533400"/>
          </a:xfrm>
          <a:prstGeom prst="roundRect">
            <a:avLst>
              <a:gd name="adj" fmla="val 7143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89396" y="2723198"/>
            <a:ext cx="146930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May — 2026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0" y="5715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4762">
            <a:solidFill>
              <a:srgbClr val="FFFFFF">
                <a:alpha val="1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8572500" y="5715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9525000" y="5715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10477500" y="571500"/>
            <a:ext cx="9525" cy="5715000"/>
          </a:xfrm>
          <a:custGeom>
            <a:avLst/>
            <a:gdLst/>
            <a:ahLst/>
            <a:cxnLst/>
            <a:rect l="l" t="t" r="r" b="b"/>
            <a:pathLst>
              <a:path w="9525" h="5715000">
                <a:moveTo>
                  <a:pt x="0" y="0"/>
                </a:moveTo>
                <a:lnTo>
                  <a:pt x="0" y="5715000"/>
                </a:lnTo>
              </a:path>
            </a:pathLst>
          </a:custGeom>
          <a:noFill/>
          <a:ln w="4762">
            <a:solidFill>
              <a:srgbClr val="FFFFFF">
                <a:alpha val="6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181022" y="1244441"/>
            <a:ext cx="10548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TODAY'S SNAPSHOT</a:t>
            </a:r>
          </a:p>
        </p:txBody>
      </p:sp>
      <p:sp>
        <p:nvSpPr>
          <p:cNvPr id="16" name="Line 16"/>
          <p:cNvSpPr/>
          <p:nvPr/>
        </p:nvSpPr>
        <p:spPr>
          <a:xfrm>
            <a:off x="8191500" y="14287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D6B13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145780" y="1706880"/>
            <a:ext cx="130119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80070" y="2265045"/>
            <a:ext cx="9109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Fulfillment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2849880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80070" y="340804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Back Jobs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5780" y="3992880"/>
            <a:ext cx="157842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96.1%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80070" y="4551045"/>
            <a:ext cx="12410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Manpower Utilization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5780" y="513588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110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80070" y="5694045"/>
            <a:ext cx="9589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YTD Kaizen Ideas</a:t>
            </a:r>
          </a:p>
        </p:txBody>
      </p:sp>
      <p:sp>
        <p:nvSpPr>
          <p:cNvPr id="25" name="Line 25"/>
          <p:cNvSpPr/>
          <p:nvPr/>
        </p:nvSpPr>
        <p:spPr>
          <a:xfrm>
            <a:off x="8191500" y="27622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FFFFFF">
                <a:alpha val="15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8191500" y="39052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FFFFFF">
                <a:alpha val="15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8191500" y="50482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FFFFFF">
                <a:alpha val="15000"/>
              </a:srgb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343757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35164" y="6662738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jameelmotors.com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21643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PIO Production Fulfillment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91743" y="2252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19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2647950" cy="10477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7200" y="6477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18172" y="806291"/>
            <a:ext cx="12586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Overall MTD Fulfillment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9120" y="988695"/>
            <a:ext cx="140962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2618" y="130444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✓ Target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257550" y="647700"/>
            <a:ext cx="2647950" cy="10477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257550" y="6477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418522" y="806291"/>
            <a:ext cx="1055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Today's Fulfillment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9470" y="988695"/>
            <a:ext cx="140962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57900" y="647700"/>
            <a:ext cx="2647950" cy="10477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57900" y="647700"/>
            <a:ext cx="38100" cy="1047750"/>
          </a:xfrm>
          <a:prstGeom prst="roundRect">
            <a:avLst>
              <a:gd name="adj" fmla="val 5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218872" y="806291"/>
            <a:ext cx="1390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Not Accessorized (Today)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79820" y="988695"/>
            <a:ext cx="39939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50368" y="1304449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vehicles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58250" y="647700"/>
            <a:ext cx="2876550" cy="1047750"/>
          </a:xfrm>
          <a:prstGeom prst="roundRect">
            <a:avLst>
              <a:gd name="adj" fmla="val 3636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019222" y="806291"/>
            <a:ext cx="1209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Highest Acc% · Plant 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0170" y="988695"/>
            <a:ext cx="110928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44%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770" y="1884045"/>
            <a:ext cx="18437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TODAY'S PRODUCTION BY PLANT</a:t>
            </a:r>
          </a:p>
        </p:txBody>
      </p:sp>
      <p:sp>
        <p:nvSpPr>
          <p:cNvPr id="25" name="Line 25"/>
          <p:cNvSpPr/>
          <p:nvPr/>
        </p:nvSpPr>
        <p:spPr>
          <a:xfrm>
            <a:off x="457200" y="20383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57200" y="2190750"/>
            <a:ext cx="5524500" cy="2286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37222" y="2311241"/>
            <a:ext cx="17883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Daily (Planned vs Accessorized)</a:t>
            </a:r>
          </a:p>
        </p:txBody>
      </p:sp>
      <p:sp>
        <p:nvSpPr>
          <p:cNvPr id="28" name="Line 28"/>
          <p:cNvSpPr/>
          <p:nvPr/>
        </p:nvSpPr>
        <p:spPr>
          <a:xfrm>
            <a:off x="647700" y="285750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29" name="Line 29"/>
          <p:cNvSpPr/>
          <p:nvPr/>
        </p:nvSpPr>
        <p:spPr>
          <a:xfrm>
            <a:off x="647700" y="314325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0" name="Line 30"/>
          <p:cNvSpPr/>
          <p:nvPr/>
        </p:nvSpPr>
        <p:spPr>
          <a:xfrm>
            <a:off x="647700" y="342900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1" name="Line 31"/>
          <p:cNvSpPr/>
          <p:nvPr/>
        </p:nvSpPr>
        <p:spPr>
          <a:xfrm>
            <a:off x="647700" y="371475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2" name="Line 32"/>
          <p:cNvSpPr/>
          <p:nvPr/>
        </p:nvSpPr>
        <p:spPr>
          <a:xfrm>
            <a:off x="647700" y="400050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3" name="Line 33"/>
          <p:cNvSpPr/>
          <p:nvPr/>
        </p:nvSpPr>
        <p:spPr>
          <a:xfrm>
            <a:off x="647700" y="4286250"/>
            <a:ext cx="5162550" cy="9525"/>
          </a:xfrm>
          <a:custGeom>
            <a:avLst/>
            <a:gdLst/>
            <a:ahLst/>
            <a:cxnLst/>
            <a:rect l="l" t="t" r="r" b="b"/>
            <a:pathLst>
              <a:path w="5162550" h="9525">
                <a:moveTo>
                  <a:pt x="0" y="0"/>
                </a:moveTo>
                <a:lnTo>
                  <a:pt x="51625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14409" y="2822734"/>
            <a:ext cx="1656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4409" y="3394234"/>
            <a:ext cx="1656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4409" y="3965734"/>
            <a:ext cx="1656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300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3505200"/>
            <a:ext cx="285750" cy="781050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1257300" y="3505200"/>
            <a:ext cx="285750" cy="7810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7072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1230" y="4308634"/>
            <a:ext cx="17308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164</a:t>
            </a:r>
          </a:p>
        </p:txBody>
      </p:sp>
      <p:sp>
        <p:nvSpPr>
          <p:cNvPr id="41" name="Rectangle 41"/>
          <p:cNvSpPr/>
          <p:nvPr/>
        </p:nvSpPr>
        <p:spPr>
          <a:xfrm>
            <a:off x="2000250" y="2943225"/>
            <a:ext cx="285750" cy="1343025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2305050" y="2943225"/>
            <a:ext cx="285750" cy="134302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11847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68813" y="4308634"/>
            <a:ext cx="2534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284 ★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048000" y="3514725"/>
            <a:ext cx="285750" cy="771525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3352800" y="3514725"/>
            <a:ext cx="285750" cy="77152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16622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256730" y="4308634"/>
            <a:ext cx="17308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162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095750" y="3629025"/>
            <a:ext cx="285750" cy="657225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4400550" y="3629025"/>
            <a:ext cx="285750" cy="65722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21397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304480" y="4308634"/>
            <a:ext cx="17308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138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4095750"/>
            <a:ext cx="95250" cy="95250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77778" y="4118134"/>
            <a:ext cx="34118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Planned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53000" y="4267200"/>
            <a:ext cx="95250" cy="952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77778" y="4289584"/>
            <a:ext cx="58871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Accessorized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191250" y="2190750"/>
            <a:ext cx="5543550" cy="2286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71272" y="2311241"/>
            <a:ext cx="1742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MTD (Planned vs Accessorized)</a:t>
            </a:r>
          </a:p>
        </p:txBody>
      </p:sp>
      <p:sp>
        <p:nvSpPr>
          <p:cNvPr id="59" name="Line 59"/>
          <p:cNvSpPr/>
          <p:nvPr/>
        </p:nvSpPr>
        <p:spPr>
          <a:xfrm>
            <a:off x="6381750" y="28575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0" name="Line 60"/>
          <p:cNvSpPr/>
          <p:nvPr/>
        </p:nvSpPr>
        <p:spPr>
          <a:xfrm>
            <a:off x="6381750" y="314325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1" name="Line 61"/>
          <p:cNvSpPr/>
          <p:nvPr/>
        </p:nvSpPr>
        <p:spPr>
          <a:xfrm>
            <a:off x="6381750" y="34290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2" name="Line 62"/>
          <p:cNvSpPr/>
          <p:nvPr/>
        </p:nvSpPr>
        <p:spPr>
          <a:xfrm>
            <a:off x="6381750" y="371475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3" name="Line 63"/>
          <p:cNvSpPr/>
          <p:nvPr/>
        </p:nvSpPr>
        <p:spPr>
          <a:xfrm>
            <a:off x="6381750" y="40005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4" name="Line 64"/>
          <p:cNvSpPr/>
          <p:nvPr/>
        </p:nvSpPr>
        <p:spPr>
          <a:xfrm>
            <a:off x="6381750" y="428625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098953" y="2822734"/>
            <a:ext cx="21517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2000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098953" y="3394234"/>
            <a:ext cx="21517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3500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098953" y="3965734"/>
            <a:ext cx="21517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5000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667500" y="3609975"/>
            <a:ext cx="285750" cy="676275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6972300" y="3609975"/>
            <a:ext cx="285750" cy="67627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78572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824249" y="4318159"/>
            <a:ext cx="27705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2,386</a:t>
            </a:r>
          </a:p>
        </p:txBody>
      </p:sp>
      <p:sp>
        <p:nvSpPr>
          <p:cNvPr id="72" name="Rectangle 72"/>
          <p:cNvSpPr/>
          <p:nvPr/>
        </p:nvSpPr>
        <p:spPr>
          <a:xfrm>
            <a:off x="7715250" y="2876550"/>
            <a:ext cx="285750" cy="1409700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8020050" y="2876550"/>
            <a:ext cx="285750" cy="14097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83347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31831" y="4308634"/>
            <a:ext cx="35738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4,944 ★</a:t>
            </a:r>
          </a:p>
        </p:txBody>
      </p:sp>
      <p:sp>
        <p:nvSpPr>
          <p:cNvPr id="76" name="Rectangle 76"/>
          <p:cNvSpPr/>
          <p:nvPr/>
        </p:nvSpPr>
        <p:spPr>
          <a:xfrm>
            <a:off x="8763000" y="3686175"/>
            <a:ext cx="285750" cy="600075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9067800" y="3686175"/>
            <a:ext cx="285750" cy="60007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888122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3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919749" y="4318159"/>
            <a:ext cx="27705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2,084</a:t>
            </a:r>
          </a:p>
        </p:txBody>
      </p:sp>
      <p:sp>
        <p:nvSpPr>
          <p:cNvPr id="80" name="Rectangle 80"/>
          <p:cNvSpPr/>
          <p:nvPr/>
        </p:nvSpPr>
        <p:spPr>
          <a:xfrm>
            <a:off x="9810750" y="3752850"/>
            <a:ext cx="285750" cy="533400"/>
          </a:xfrm>
          <a:prstGeom prst="rect">
            <a:avLst/>
          </a:prstGeom>
          <a:solidFill>
            <a:srgbClr val="4A7C8E">
              <a:alpha val="50000"/>
            </a:srgbClr>
          </a:solidFill>
          <a:ln>
            <a:noFill/>
          </a:ln>
        </p:spPr>
      </p:sp>
      <p:sp>
        <p:nvSpPr>
          <p:cNvPr id="81" name="Rectangle 81"/>
          <p:cNvSpPr/>
          <p:nvPr/>
        </p:nvSpPr>
        <p:spPr>
          <a:xfrm>
            <a:off x="10115550" y="3752850"/>
            <a:ext cx="285750" cy="5334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9928979" y="4376738"/>
            <a:ext cx="354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4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967499" y="4318159"/>
            <a:ext cx="27705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1,875</a:t>
            </a:r>
          </a:p>
        </p:txBody>
      </p:sp>
      <p:sp>
        <p:nvSpPr>
          <p:cNvPr id="84" name="Rectangle 84"/>
          <p:cNvSpPr/>
          <p:nvPr/>
        </p:nvSpPr>
        <p:spPr>
          <a:xfrm>
            <a:off x="457200" y="4648200"/>
            <a:ext cx="11277600" cy="762000"/>
          </a:xfrm>
          <a:prstGeom prst="roundRect">
            <a:avLst>
              <a:gd name="adj" fmla="val 5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675322" y="4768691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Total Pull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5320" y="4979670"/>
            <a:ext cx="11698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11,290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656522" y="4768691"/>
            <a:ext cx="7250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Total Planned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636520" y="4979670"/>
            <a:ext cx="11698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11,291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752022" y="4768691"/>
            <a:ext cx="543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Not Pulled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732020" y="4979670"/>
            <a:ext cx="24578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91" name="Line 91"/>
          <p:cNvSpPr/>
          <p:nvPr/>
        </p:nvSpPr>
        <p:spPr>
          <a:xfrm>
            <a:off x="2476500" y="478155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92" name="Line 92"/>
          <p:cNvSpPr/>
          <p:nvPr/>
        </p:nvSpPr>
        <p:spPr>
          <a:xfrm>
            <a:off x="4552950" y="478155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6657022" y="4768691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ACC% by Plant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655118" y="5133499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P1: 21.1%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893368" y="5133499"/>
            <a:ext cx="8097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P2: 43.8% ★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322118" y="5133499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P3: 18.5%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465118" y="5133499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P4: 16.6%</a:t>
            </a:r>
          </a:p>
        </p:txBody>
      </p:sp>
      <p:sp>
        <p:nvSpPr>
          <p:cNvPr id="98" name="Rectangle 98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34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Overall — No. of Back Jobs &amp; Quality Index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5721" y="22526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342900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720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37222" y="806291"/>
            <a:ext cx="7745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Back Jobs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6740" y="1034415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040" y="1439228"/>
            <a:ext cx="2997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jobs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038600" y="647700"/>
            <a:ext cx="342900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03860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218622" y="80629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Today's Back Jobs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68140" y="1034415"/>
            <a:ext cx="49156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857750" y="1314450"/>
            <a:ext cx="762000" cy="228600"/>
          </a:xfrm>
          <a:prstGeom prst="roundRect">
            <a:avLst>
              <a:gd name="adj" fmla="val 16667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34786" y="1387316"/>
            <a:ext cx="4079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Clean 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0" y="647700"/>
            <a:ext cx="4114800" cy="1238250"/>
          </a:xfrm>
          <a:prstGeom prst="roundRect">
            <a:avLst>
              <a:gd name="adj" fmla="val 3077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00022" y="806291"/>
            <a:ext cx="956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Quality Index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57160" y="1070610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99.70%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382250" y="1190625"/>
            <a:ext cx="1047750" cy="266700"/>
          </a:xfrm>
          <a:prstGeom prst="roundRect">
            <a:avLst>
              <a:gd name="adj" fmla="val 14286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585956" y="1274445"/>
            <a:ext cx="640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On Target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5770" y="2074545"/>
            <a:ext cx="2013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PRODUCTION &amp; QUALITY TREND</a:t>
            </a:r>
          </a:p>
        </p:txBody>
      </p:sp>
      <p:sp>
        <p:nvSpPr>
          <p:cNvPr id="24" name="Line 24"/>
          <p:cNvSpPr/>
          <p:nvPr/>
        </p:nvSpPr>
        <p:spPr>
          <a:xfrm>
            <a:off x="457200" y="22288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57200" y="2362200"/>
            <a:ext cx="5524500" cy="295275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37222" y="2482691"/>
            <a:ext cx="15977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Daily Production &amp; Back Jobs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2952750"/>
            <a:ext cx="571500" cy="17145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32473" y="2816066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748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6192" y="4776788"/>
            <a:ext cx="5441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Production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905000" y="4648200"/>
            <a:ext cx="571500" cy="19050"/>
          </a:xfrm>
          <a:prstGeom prst="rect">
            <a:avLst/>
          </a:prstGeom>
          <a:solidFill>
            <a:srgbClr val="D1454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148506" y="4721066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46196" y="4776788"/>
            <a:ext cx="48910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Back Jobs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857500" y="2962275"/>
            <a:ext cx="571500" cy="1704975"/>
          </a:xfrm>
          <a:prstGeom prst="rect">
            <a:avLst/>
          </a:prstGeom>
          <a:solidFill>
            <a:srgbClr val="6D8F3B">
              <a:alpha val="8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2389" y="2816066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99.7%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028712" y="4776788"/>
            <a:ext cx="2290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QI %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4667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37" name="Line 37"/>
          <p:cNvSpPr/>
          <p:nvPr/>
        </p:nvSpPr>
        <p:spPr>
          <a:xfrm>
            <a:off x="762000" y="3714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8" name="Line 38"/>
          <p:cNvSpPr/>
          <p:nvPr/>
        </p:nvSpPr>
        <p:spPr>
          <a:xfrm>
            <a:off x="762000" y="32385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095750" y="2952750"/>
            <a:ext cx="1524000" cy="762000"/>
          </a:xfrm>
          <a:prstGeom prst="roundRect">
            <a:avLst>
              <a:gd name="adj" fmla="val 5000"/>
            </a:avLst>
          </a:prstGeom>
          <a:solidFill>
            <a:srgbClr val="F5F2EC"/>
          </a:solidFill>
          <a:ln w="9525">
            <a:solidFill>
              <a:srgbClr val="D8D4CC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4615696" y="3109912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Total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455597" y="3269932"/>
            <a:ext cx="8043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11,290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18171" y="3538538"/>
            <a:ext cx="8791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vehicles produced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191250" y="2362200"/>
            <a:ext cx="5543550" cy="295275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371272" y="2482691"/>
            <a:ext cx="11010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Quality Index — MTD</a:t>
            </a:r>
          </a:p>
        </p:txBody>
      </p:sp>
      <p:sp>
        <p:nvSpPr>
          <p:cNvPr id="45" name="Ellipse 45"/>
          <p:cNvSpPr/>
          <p:nvPr/>
        </p:nvSpPr>
        <p:spPr>
          <a:xfrm>
            <a:off x="7810500" y="2667000"/>
            <a:ext cx="2286000" cy="2286000"/>
          </a:xfrm>
          <a:prstGeom prst="ellipse">
            <a:avLst/>
          </a:prstGeom>
          <a:noFill/>
          <a:ln w="152400">
            <a:solidFill>
              <a:srgbClr val="E8E5DF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7810500" y="2667000"/>
            <a:ext cx="2286000" cy="2286000"/>
          </a:xfrm>
          <a:prstGeom prst="ellipse">
            <a:avLst/>
          </a:prstGeom>
          <a:noFill/>
          <a:ln w="152400">
            <a:solidFill>
              <a:srgbClr val="6D8F3B"/>
            </a:solidFill>
            <a:custDash>
              <a:ds d="4700000" sp="25000"/>
            </a:custDash>
          </a:ln>
        </p:spPr>
      </p:sp>
      <p:sp>
        <p:nvSpPr>
          <p:cNvPr id="47" name="TextBox 47"/>
          <p:cNvSpPr txBox="1"/>
          <p:nvPr/>
        </p:nvSpPr>
        <p:spPr>
          <a:xfrm>
            <a:off x="8180308" y="3371850"/>
            <a:ext cx="154638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99.70%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28316" y="3876199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Quality Index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86750" y="4667250"/>
            <a:ext cx="1333500" cy="266700"/>
          </a:xfrm>
          <a:prstGeom prst="roundRect">
            <a:avLst>
              <a:gd name="adj" fmla="val 14286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352946" y="4751070"/>
            <a:ext cx="1201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TARGET: ≥ 99.50% 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2225" y="2928938"/>
            <a:ext cx="704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Back Jobs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58890" y="30441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15</a:t>
            </a:r>
          </a:p>
        </p:txBody>
      </p:sp>
      <p:sp>
        <p:nvSpPr>
          <p:cNvPr id="53" name="Line 53"/>
          <p:cNvSpPr/>
          <p:nvPr/>
        </p:nvSpPr>
        <p:spPr>
          <a:xfrm>
            <a:off x="6381750" y="340995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9525">
            <a:solidFill>
              <a:srgbClr val="E8E5DF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372225" y="35194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Today BJ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58890" y="36347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56" name="Rectangle 5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33152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Overall — No. of Damages &amp; Damage Ratio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5721" y="22526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720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37222" y="825341"/>
            <a:ext cx="12201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PIO Total Damages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6740" y="1053465"/>
            <a:ext cx="49156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5868" y="1466374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vehicles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25755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25755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437572" y="825341"/>
            <a:ext cx="13136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Production Damages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87090" y="1053465"/>
            <a:ext cx="49156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26218" y="1466374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vehicles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5790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5790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237922" y="825341"/>
            <a:ext cx="7030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PIO MTD DR 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6490" y="1120140"/>
            <a:ext cx="14468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0.03%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37922" y="1625441"/>
            <a:ext cx="8020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Target: 0.07%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429500" y="838200"/>
            <a:ext cx="952500" cy="228600"/>
          </a:xfrm>
          <a:prstGeom prst="roundRect">
            <a:avLst>
              <a:gd name="adj" fmla="val 16667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690234" y="911066"/>
            <a:ext cx="4310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Below 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858250" y="647700"/>
            <a:ext cx="28765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85825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38272" y="825341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Production MTD DR 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06840" y="1120140"/>
            <a:ext cx="14468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0.02%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38272" y="1625441"/>
            <a:ext cx="8020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Target: 0.07%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0334625" y="838200"/>
            <a:ext cx="952500" cy="228600"/>
          </a:xfrm>
          <a:prstGeom prst="roundRect">
            <a:avLst>
              <a:gd name="adj" fmla="val 16667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595359" y="911066"/>
            <a:ext cx="4310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Below ✓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5770" y="2074545"/>
            <a:ext cx="18563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DAMAGE RATIO TREND vs TARGET</a:t>
            </a:r>
          </a:p>
        </p:txBody>
      </p:sp>
      <p:sp>
        <p:nvSpPr>
          <p:cNvPr id="32" name="Line 32"/>
          <p:cNvSpPr/>
          <p:nvPr/>
        </p:nvSpPr>
        <p:spPr>
          <a:xfrm>
            <a:off x="457200" y="22288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57200" y="2362200"/>
            <a:ext cx="5524500" cy="295275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37222" y="2501741"/>
            <a:ext cx="14360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PIO Damage Ratio % — MTD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3238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14545"/>
            </a:solidFill>
            <a:custDash>
              <a:ds d="400000" sp="300000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5611178" y="3203734"/>
            <a:ext cx="60671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Target 0.07%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428750" y="4000500"/>
            <a:ext cx="571500" cy="5715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533639" y="3863816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0.03%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52456" y="4633912"/>
            <a:ext cx="324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Actual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3429000"/>
            <a:ext cx="571500" cy="1143000"/>
          </a:xfrm>
          <a:prstGeom prst="rect">
            <a:avLst/>
          </a:prstGeom>
          <a:solidFill>
            <a:srgbClr val="D8D4C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771889" y="3292316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0.07%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78204" y="4633912"/>
            <a:ext cx="3490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Target</a:t>
            </a:r>
          </a:p>
        </p:txBody>
      </p:sp>
      <p:sp>
        <p:nvSpPr>
          <p:cNvPr id="43" name="Line 43"/>
          <p:cNvSpPr/>
          <p:nvPr/>
        </p:nvSpPr>
        <p:spPr>
          <a:xfrm>
            <a:off x="762000" y="4572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3619500" y="3714750"/>
            <a:ext cx="1524000" cy="571500"/>
          </a:xfrm>
          <a:prstGeom prst="roundRect">
            <a:avLst>
              <a:gd name="adj" fmla="val 666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043732" y="3892391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0.04% below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131330" y="4082891"/>
            <a:ext cx="5003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target ✓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362200"/>
            <a:ext cx="5543550" cy="295275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371272" y="2501741"/>
            <a:ext cx="18576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Production Damage Ratio % — MTD</a:t>
            </a:r>
          </a:p>
        </p:txBody>
      </p:sp>
      <p:sp>
        <p:nvSpPr>
          <p:cNvPr id="49" name="Line 49"/>
          <p:cNvSpPr/>
          <p:nvPr/>
        </p:nvSpPr>
        <p:spPr>
          <a:xfrm>
            <a:off x="6477000" y="3238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D14545"/>
            </a:solidFill>
            <a:custDash>
              <a:ds d="400000" sp="300000"/>
            </a:custDash>
          </a:ln>
        </p:spPr>
      </p:sp>
      <p:sp>
        <p:nvSpPr>
          <p:cNvPr id="50" name="TextBox 50"/>
          <p:cNvSpPr txBox="1"/>
          <p:nvPr/>
        </p:nvSpPr>
        <p:spPr>
          <a:xfrm>
            <a:off x="10784229" y="3108484"/>
            <a:ext cx="60671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Target 0.07%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239000" y="4171950"/>
            <a:ext cx="571500" cy="400050"/>
          </a:xfrm>
          <a:prstGeom prst="rect">
            <a:avLst/>
          </a:prstGeom>
          <a:solidFill>
            <a:srgbClr val="4A7C8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343889" y="4025741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0.02%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362706" y="4633912"/>
            <a:ext cx="324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Actual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572500" y="3429000"/>
            <a:ext cx="571500" cy="1143000"/>
          </a:xfrm>
          <a:prstGeom prst="rect">
            <a:avLst/>
          </a:prstGeom>
          <a:solidFill>
            <a:srgbClr val="D8D4C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677389" y="3282791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0.07%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83704" y="4633912"/>
            <a:ext cx="3490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Target</a:t>
            </a:r>
          </a:p>
        </p:txBody>
      </p:sp>
      <p:sp>
        <p:nvSpPr>
          <p:cNvPr id="57" name="Line 57"/>
          <p:cNvSpPr/>
          <p:nvPr/>
        </p:nvSpPr>
        <p:spPr>
          <a:xfrm>
            <a:off x="6477000" y="45720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9620250" y="3714750"/>
            <a:ext cx="1524000" cy="571500"/>
          </a:xfrm>
          <a:prstGeom prst="roundRect">
            <a:avLst>
              <a:gd name="adj" fmla="val 666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0044482" y="3892391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0.05% below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132080" y="4082891"/>
            <a:ext cx="5003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target ✓</a:t>
            </a:r>
          </a:p>
        </p:txBody>
      </p:sp>
      <p:sp>
        <p:nvSpPr>
          <p:cNvPr id="61" name="Rectangle 6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12318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Damage Details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5721" y="22526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11277600" cy="685800"/>
          </a:xfrm>
          <a:prstGeom prst="roundRect">
            <a:avLst>
              <a:gd name="adj" fmla="val 5556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5322" y="825341"/>
            <a:ext cx="2045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Total Damages (PIO + Production)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510" y="927735"/>
            <a:ext cx="2765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3950" y="1057275"/>
            <a:ext cx="31569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vehicles with damage recorded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770" y="1522095"/>
            <a:ext cx="25557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DAMAGE TYPE BREAKDOWN &amp; MONTHLY TREND</a:t>
            </a:r>
          </a:p>
        </p:txBody>
      </p:sp>
      <p:sp>
        <p:nvSpPr>
          <p:cNvPr id="12" name="Line 12"/>
          <p:cNvSpPr/>
          <p:nvPr/>
        </p:nvSpPr>
        <p:spPr>
          <a:xfrm>
            <a:off x="457200" y="16764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57200" y="1809750"/>
            <a:ext cx="5524500" cy="3429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7222" y="1930241"/>
            <a:ext cx="14764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MTD Damage Count — Trend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8175" y="2090738"/>
            <a:ext cx="17792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Daily cumulative damages this month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46672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7" name="Line 17"/>
          <p:cNvSpPr/>
          <p:nvPr/>
        </p:nvSpPr>
        <p:spPr>
          <a:xfrm>
            <a:off x="762000" y="2571750"/>
            <a:ext cx="9525" cy="2095500"/>
          </a:xfrm>
          <a:custGeom>
            <a:avLst/>
            <a:gdLst/>
            <a:ahLst/>
            <a:cxnLst/>
            <a:rect l="l" t="t" r="r" b="b"/>
            <a:pathLst>
              <a:path w="9525" h="2095500">
                <a:moveTo>
                  <a:pt x="0" y="2095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8" name="Line 18"/>
          <p:cNvSpPr/>
          <p:nvPr/>
        </p:nvSpPr>
        <p:spPr>
          <a:xfrm>
            <a:off x="7620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19" name="Line 19"/>
          <p:cNvSpPr/>
          <p:nvPr/>
        </p:nvSpPr>
        <p:spPr>
          <a:xfrm>
            <a:off x="762000" y="35242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20" name="Line 20"/>
          <p:cNvSpPr/>
          <p:nvPr/>
        </p:nvSpPr>
        <p:spPr>
          <a:xfrm>
            <a:off x="762000" y="2952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6771" y="4051459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771" y="3479959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771" y="2908459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24" name="Polyline 24"/>
          <p:cNvSpPr/>
          <p:nvPr/>
        </p:nvSpPr>
        <p:spPr>
          <a:xfrm>
            <a:off x="762000" y="2952750"/>
            <a:ext cx="4381500" cy="1714500"/>
          </a:xfrm>
          <a:custGeom>
            <a:avLst/>
            <a:gdLst/>
            <a:ahLst/>
            <a:cxnLst/>
            <a:rect l="l" t="t" r="r" b="b"/>
            <a:pathLst>
              <a:path w="4381500" h="1714500">
                <a:moveTo>
                  <a:pt x="0" y="1714500"/>
                </a:moveTo>
                <a:lnTo>
                  <a:pt x="762000" y="1714500"/>
                </a:lnTo>
                <a:lnTo>
                  <a:pt x="762000" y="1143000"/>
                </a:lnTo>
                <a:lnTo>
                  <a:pt x="1714500" y="1143000"/>
                </a:lnTo>
                <a:lnTo>
                  <a:pt x="1714500" y="571500"/>
                </a:lnTo>
                <a:lnTo>
                  <a:pt x="2667000" y="571500"/>
                </a:lnTo>
                <a:lnTo>
                  <a:pt x="2667000" y="0"/>
                </a:lnTo>
                <a:lnTo>
                  <a:pt x="4381500" y="0"/>
                </a:lnTo>
              </a:path>
            </a:pathLst>
          </a:custGeom>
          <a:noFill/>
          <a:ln w="23812">
            <a:solidFill>
              <a:srgbClr val="ED6B13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1476375" y="4048125"/>
            <a:ext cx="95250" cy="95250"/>
          </a:xfrm>
          <a:prstGeom prst="ellipse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2428875" y="3476625"/>
            <a:ext cx="95250" cy="95250"/>
          </a:xfrm>
          <a:prstGeom prst="ellipse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3381375" y="2905125"/>
            <a:ext cx="95250" cy="95250"/>
          </a:xfrm>
          <a:prstGeom prst="ellipse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5095875" y="2905125"/>
            <a:ext cx="95250" cy="95250"/>
          </a:xfrm>
          <a:prstGeom prst="ellipse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402913" y="4737259"/>
            <a:ext cx="24217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Day 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30660" y="4737259"/>
            <a:ext cx="2916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Day 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83160" y="4737259"/>
            <a:ext cx="2916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Day 15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97660" y="4737259"/>
            <a:ext cx="2916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Day 19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2667000"/>
            <a:ext cx="838200" cy="381000"/>
          </a:xfrm>
          <a:prstGeom prst="roundRect">
            <a:avLst>
              <a:gd name="adj" fmla="val 1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89051" y="2757488"/>
            <a:ext cx="404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Current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31509" y="2877502"/>
            <a:ext cx="5191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 Total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1809750"/>
            <a:ext cx="5543550" cy="3429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371272" y="1930241"/>
            <a:ext cx="14244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Damage Type Distribution</a:t>
            </a:r>
          </a:p>
        </p:txBody>
      </p:sp>
      <p:sp>
        <p:nvSpPr>
          <p:cNvPr id="38" name="Ellipse 38"/>
          <p:cNvSpPr/>
          <p:nvPr/>
        </p:nvSpPr>
        <p:spPr>
          <a:xfrm>
            <a:off x="7239000" y="2571750"/>
            <a:ext cx="2095500" cy="2095500"/>
          </a:xfrm>
          <a:prstGeom prst="ellipse">
            <a:avLst/>
          </a:prstGeom>
          <a:noFill/>
          <a:ln w="285750">
            <a:solidFill>
              <a:srgbClr val="E8E5DF"/>
            </a:solidFill>
          </a:ln>
        </p:spPr>
      </p:sp>
      <p:sp>
        <p:nvSpPr>
          <p:cNvPr id="39" name="Arc 39"/>
          <p:cNvSpPr/>
          <p:nvPr/>
        </p:nvSpPr>
        <p:spPr>
          <a:xfrm>
            <a:off x="7096902" y="2430104"/>
            <a:ext cx="2156507" cy="2320976"/>
          </a:xfrm>
          <a:custGeom>
            <a:avLst/>
            <a:gdLst/>
            <a:ahLst/>
            <a:cxnLst/>
            <a:rect l="l" t="t" r="r" b="b"/>
            <a:pathLst>
              <a:path w="2156507" h="2320976">
                <a:moveTo>
                  <a:pt x="819557" y="2320976"/>
                </a:moveTo>
                <a:lnTo>
                  <a:pt x="709219" y="2278700"/>
                </a:lnTo>
                <a:lnTo>
                  <a:pt x="603615" y="2225697"/>
                </a:lnTo>
                <a:lnTo>
                  <a:pt x="503785" y="2162486"/>
                </a:lnTo>
                <a:lnTo>
                  <a:pt x="410711" y="2089692"/>
                </a:lnTo>
                <a:lnTo>
                  <a:pt x="325311" y="2008031"/>
                </a:lnTo>
                <a:lnTo>
                  <a:pt x="248426" y="1918308"/>
                </a:lnTo>
                <a:lnTo>
                  <a:pt x="180813" y="1821405"/>
                </a:lnTo>
                <a:lnTo>
                  <a:pt x="123138" y="1718278"/>
                </a:lnTo>
                <a:lnTo>
                  <a:pt x="75968" y="1609942"/>
                </a:lnTo>
                <a:lnTo>
                  <a:pt x="39769" y="1497464"/>
                </a:lnTo>
                <a:lnTo>
                  <a:pt x="14897" y="1381952"/>
                </a:lnTo>
                <a:lnTo>
                  <a:pt x="1597" y="1264544"/>
                </a:lnTo>
                <a:lnTo>
                  <a:pt x="0" y="1146395"/>
                </a:lnTo>
                <a:lnTo>
                  <a:pt x="10122" y="1028670"/>
                </a:lnTo>
                <a:lnTo>
                  <a:pt x="31862" y="912528"/>
                </a:lnTo>
                <a:lnTo>
                  <a:pt x="65008" y="799112"/>
                </a:lnTo>
                <a:lnTo>
                  <a:pt x="109231" y="689541"/>
                </a:lnTo>
                <a:lnTo>
                  <a:pt x="164098" y="584892"/>
                </a:lnTo>
                <a:lnTo>
                  <a:pt x="229067" y="486198"/>
                </a:lnTo>
                <a:lnTo>
                  <a:pt x="303499" y="394429"/>
                </a:lnTo>
                <a:lnTo>
                  <a:pt x="386661" y="310489"/>
                </a:lnTo>
                <a:lnTo>
                  <a:pt x="477733" y="235206"/>
                </a:lnTo>
                <a:lnTo>
                  <a:pt x="575818" y="169320"/>
                </a:lnTo>
                <a:lnTo>
                  <a:pt x="679951" y="113481"/>
                </a:lnTo>
                <a:lnTo>
                  <a:pt x="789106" y="68239"/>
                </a:lnTo>
                <a:lnTo>
                  <a:pt x="902207" y="34039"/>
                </a:lnTo>
                <a:lnTo>
                  <a:pt x="1018142" y="11218"/>
                </a:lnTo>
                <a:lnTo>
                  <a:pt x="1135768" y="0"/>
                </a:lnTo>
                <a:lnTo>
                  <a:pt x="1253926" y="497"/>
                </a:lnTo>
                <a:lnTo>
                  <a:pt x="1371454" y="12703"/>
                </a:lnTo>
                <a:lnTo>
                  <a:pt x="1487192" y="36498"/>
                </a:lnTo>
                <a:lnTo>
                  <a:pt x="1600002" y="71648"/>
                </a:lnTo>
                <a:lnTo>
                  <a:pt x="1708773" y="117806"/>
                </a:lnTo>
                <a:lnTo>
                  <a:pt x="1812433" y="174519"/>
                </a:lnTo>
                <a:lnTo>
                  <a:pt x="1909961" y="241227"/>
                </a:lnTo>
                <a:lnTo>
                  <a:pt x="2000397" y="317273"/>
                </a:lnTo>
                <a:lnTo>
                  <a:pt x="2082849" y="401908"/>
                </a:lnTo>
                <a:lnTo>
                  <a:pt x="2156507" y="494300"/>
                </a:lnTo>
                <a:lnTo>
                  <a:pt x="1924509" y="661123"/>
                </a:lnTo>
                <a:lnTo>
                  <a:pt x="1868529" y="590906"/>
                </a:lnTo>
                <a:lnTo>
                  <a:pt x="1805865" y="526582"/>
                </a:lnTo>
                <a:lnTo>
                  <a:pt x="1737134" y="468787"/>
                </a:lnTo>
                <a:lnTo>
                  <a:pt x="1663013" y="418089"/>
                </a:lnTo>
                <a:lnTo>
                  <a:pt x="1584231" y="374988"/>
                </a:lnTo>
                <a:lnTo>
                  <a:pt x="1501565" y="339907"/>
                </a:lnTo>
                <a:lnTo>
                  <a:pt x="1415830" y="313193"/>
                </a:lnTo>
                <a:lnTo>
                  <a:pt x="1327868" y="295109"/>
                </a:lnTo>
                <a:lnTo>
                  <a:pt x="1238548" y="285833"/>
                </a:lnTo>
                <a:lnTo>
                  <a:pt x="1148747" y="285455"/>
                </a:lnTo>
                <a:lnTo>
                  <a:pt x="1059352" y="293980"/>
                </a:lnTo>
                <a:lnTo>
                  <a:pt x="971241" y="311325"/>
                </a:lnTo>
                <a:lnTo>
                  <a:pt x="885284" y="337317"/>
                </a:lnTo>
                <a:lnTo>
                  <a:pt x="802326" y="371701"/>
                </a:lnTo>
                <a:lnTo>
                  <a:pt x="723185" y="414139"/>
                </a:lnTo>
                <a:lnTo>
                  <a:pt x="648640" y="464212"/>
                </a:lnTo>
                <a:lnTo>
                  <a:pt x="579426" y="521427"/>
                </a:lnTo>
                <a:lnTo>
                  <a:pt x="516223" y="585221"/>
                </a:lnTo>
                <a:lnTo>
                  <a:pt x="459655" y="654965"/>
                </a:lnTo>
                <a:lnTo>
                  <a:pt x="410278" y="729973"/>
                </a:lnTo>
                <a:lnTo>
                  <a:pt x="368579" y="809506"/>
                </a:lnTo>
                <a:lnTo>
                  <a:pt x="334969" y="892780"/>
                </a:lnTo>
                <a:lnTo>
                  <a:pt x="309779" y="978976"/>
                </a:lnTo>
                <a:lnTo>
                  <a:pt x="293256" y="1067244"/>
                </a:lnTo>
                <a:lnTo>
                  <a:pt x="285564" y="1156715"/>
                </a:lnTo>
                <a:lnTo>
                  <a:pt x="286777" y="1246508"/>
                </a:lnTo>
                <a:lnTo>
                  <a:pt x="296885" y="1335739"/>
                </a:lnTo>
                <a:lnTo>
                  <a:pt x="315788" y="1423528"/>
                </a:lnTo>
                <a:lnTo>
                  <a:pt x="343299" y="1509011"/>
                </a:lnTo>
                <a:lnTo>
                  <a:pt x="379148" y="1591346"/>
                </a:lnTo>
                <a:lnTo>
                  <a:pt x="422981" y="1669723"/>
                </a:lnTo>
                <a:lnTo>
                  <a:pt x="474367" y="1743369"/>
                </a:lnTo>
                <a:lnTo>
                  <a:pt x="532800" y="1811559"/>
                </a:lnTo>
                <a:lnTo>
                  <a:pt x="597704" y="1873621"/>
                </a:lnTo>
                <a:lnTo>
                  <a:pt x="668440" y="1928945"/>
                </a:lnTo>
                <a:lnTo>
                  <a:pt x="744311" y="1976985"/>
                </a:lnTo>
                <a:lnTo>
                  <a:pt x="824570" y="2017267"/>
                </a:lnTo>
                <a:lnTo>
                  <a:pt x="908427" y="2049397"/>
                </a:lnTo>
                <a:close/>
              </a:path>
            </a:pathLst>
          </a:custGeom>
          <a:solidFill>
            <a:srgbClr val="ED6B13"/>
          </a:solidFill>
          <a:ln>
            <a:noFill/>
          </a:ln>
        </p:spPr>
      </p:sp>
      <p:sp>
        <p:nvSpPr>
          <p:cNvPr id="40" name="Arc 40"/>
          <p:cNvSpPr/>
          <p:nvPr/>
        </p:nvSpPr>
        <p:spPr>
          <a:xfrm>
            <a:off x="8715963" y="2924404"/>
            <a:ext cx="761086" cy="1743257"/>
          </a:xfrm>
          <a:custGeom>
            <a:avLst/>
            <a:gdLst/>
            <a:ahLst/>
            <a:cxnLst/>
            <a:rect l="l" t="t" r="r" b="b"/>
            <a:pathLst>
              <a:path w="761086" h="1743257">
                <a:moveTo>
                  <a:pt x="537446" y="0"/>
                </a:moveTo>
                <a:lnTo>
                  <a:pt x="602011" y="99977"/>
                </a:lnTo>
                <a:lnTo>
                  <a:pt x="656271" y="205901"/>
                </a:lnTo>
                <a:lnTo>
                  <a:pt x="699687" y="316713"/>
                </a:lnTo>
                <a:lnTo>
                  <a:pt x="731822" y="431305"/>
                </a:lnTo>
                <a:lnTo>
                  <a:pt x="752357" y="548533"/>
                </a:lnTo>
                <a:lnTo>
                  <a:pt x="761086" y="667225"/>
                </a:lnTo>
                <a:lnTo>
                  <a:pt x="757922" y="786196"/>
                </a:lnTo>
                <a:lnTo>
                  <a:pt x="742896" y="904257"/>
                </a:lnTo>
                <a:lnTo>
                  <a:pt x="716159" y="1020227"/>
                </a:lnTo>
                <a:lnTo>
                  <a:pt x="677978" y="1132949"/>
                </a:lnTo>
                <a:lnTo>
                  <a:pt x="628735" y="1241297"/>
                </a:lnTo>
                <a:lnTo>
                  <a:pt x="568920" y="1344186"/>
                </a:lnTo>
                <a:lnTo>
                  <a:pt x="499133" y="1440591"/>
                </a:lnTo>
                <a:lnTo>
                  <a:pt x="420070" y="1529546"/>
                </a:lnTo>
                <a:lnTo>
                  <a:pt x="332521" y="1610164"/>
                </a:lnTo>
                <a:lnTo>
                  <a:pt x="237361" y="1681639"/>
                </a:lnTo>
                <a:lnTo>
                  <a:pt x="135541" y="1743257"/>
                </a:lnTo>
                <a:lnTo>
                  <a:pt x="0" y="1491698"/>
                </a:lnTo>
                <a:lnTo>
                  <a:pt x="77383" y="1444869"/>
                </a:lnTo>
                <a:lnTo>
                  <a:pt x="149705" y="1390548"/>
                </a:lnTo>
                <a:lnTo>
                  <a:pt x="216242" y="1329278"/>
                </a:lnTo>
                <a:lnTo>
                  <a:pt x="276330" y="1261672"/>
                </a:lnTo>
                <a:lnTo>
                  <a:pt x="329368" y="1188405"/>
                </a:lnTo>
                <a:lnTo>
                  <a:pt x="374827" y="1110209"/>
                </a:lnTo>
                <a:lnTo>
                  <a:pt x="412252" y="1027865"/>
                </a:lnTo>
                <a:lnTo>
                  <a:pt x="441270" y="942196"/>
                </a:lnTo>
                <a:lnTo>
                  <a:pt x="461590" y="854058"/>
                </a:lnTo>
                <a:lnTo>
                  <a:pt x="473010" y="764332"/>
                </a:lnTo>
                <a:lnTo>
                  <a:pt x="475414" y="673914"/>
                </a:lnTo>
                <a:lnTo>
                  <a:pt x="468780" y="583708"/>
                </a:lnTo>
                <a:lnTo>
                  <a:pt x="453174" y="494615"/>
                </a:lnTo>
                <a:lnTo>
                  <a:pt x="428751" y="407525"/>
                </a:lnTo>
                <a:lnTo>
                  <a:pt x="395755" y="323308"/>
                </a:lnTo>
                <a:lnTo>
                  <a:pt x="354517" y="242806"/>
                </a:lnTo>
                <a:lnTo>
                  <a:pt x="305448" y="166823"/>
                </a:lnTo>
                <a:close/>
              </a:path>
            </a:pathLst>
          </a:custGeom>
          <a:solidFill>
            <a:srgbClr val="28424D"/>
          </a:solidFill>
          <a:ln>
            <a:noFill/>
          </a:ln>
        </p:spPr>
      </p:sp>
      <p:sp>
        <p:nvSpPr>
          <p:cNvPr id="41" name="Arc 41"/>
          <p:cNvSpPr/>
          <p:nvPr/>
        </p:nvSpPr>
        <p:spPr>
          <a:xfrm>
            <a:off x="7907730" y="4416102"/>
            <a:ext cx="943774" cy="393848"/>
          </a:xfrm>
          <a:custGeom>
            <a:avLst/>
            <a:gdLst/>
            <a:ahLst/>
            <a:cxnLst/>
            <a:rect l="l" t="t" r="r" b="b"/>
            <a:pathLst>
              <a:path w="943774" h="393848">
                <a:moveTo>
                  <a:pt x="943774" y="251559"/>
                </a:moveTo>
                <a:lnTo>
                  <a:pt x="889460" y="279055"/>
                </a:lnTo>
                <a:lnTo>
                  <a:pt x="833811" y="303740"/>
                </a:lnTo>
                <a:lnTo>
                  <a:pt x="776974" y="325548"/>
                </a:lnTo>
                <a:lnTo>
                  <a:pt x="719096" y="344422"/>
                </a:lnTo>
                <a:lnTo>
                  <a:pt x="660329" y="360313"/>
                </a:lnTo>
                <a:lnTo>
                  <a:pt x="600826" y="373180"/>
                </a:lnTo>
                <a:lnTo>
                  <a:pt x="540744" y="382988"/>
                </a:lnTo>
                <a:lnTo>
                  <a:pt x="480239" y="389712"/>
                </a:lnTo>
                <a:lnTo>
                  <a:pt x="419469" y="393335"/>
                </a:lnTo>
                <a:lnTo>
                  <a:pt x="358594" y="393848"/>
                </a:lnTo>
                <a:lnTo>
                  <a:pt x="297772" y="391247"/>
                </a:lnTo>
                <a:lnTo>
                  <a:pt x="237162" y="385542"/>
                </a:lnTo>
                <a:lnTo>
                  <a:pt x="176924" y="376746"/>
                </a:lnTo>
                <a:lnTo>
                  <a:pt x="117213" y="364882"/>
                </a:lnTo>
                <a:lnTo>
                  <a:pt x="58187" y="349981"/>
                </a:lnTo>
                <a:lnTo>
                  <a:pt x="0" y="332084"/>
                </a:lnTo>
                <a:lnTo>
                  <a:pt x="90965" y="61199"/>
                </a:lnTo>
                <a:lnTo>
                  <a:pt x="135187" y="74801"/>
                </a:lnTo>
                <a:lnTo>
                  <a:pt x="180047" y="86126"/>
                </a:lnTo>
                <a:lnTo>
                  <a:pt x="225427" y="95142"/>
                </a:lnTo>
                <a:lnTo>
                  <a:pt x="271208" y="101827"/>
                </a:lnTo>
                <a:lnTo>
                  <a:pt x="317271" y="106163"/>
                </a:lnTo>
                <a:lnTo>
                  <a:pt x="363496" y="108140"/>
                </a:lnTo>
                <a:lnTo>
                  <a:pt x="409762" y="107750"/>
                </a:lnTo>
                <a:lnTo>
                  <a:pt x="455947" y="104997"/>
                </a:lnTo>
                <a:lnTo>
                  <a:pt x="501930" y="99886"/>
                </a:lnTo>
                <a:lnTo>
                  <a:pt x="547593" y="92432"/>
                </a:lnTo>
                <a:lnTo>
                  <a:pt x="592815" y="82653"/>
                </a:lnTo>
                <a:lnTo>
                  <a:pt x="637478" y="70576"/>
                </a:lnTo>
                <a:lnTo>
                  <a:pt x="681465" y="56232"/>
                </a:lnTo>
                <a:lnTo>
                  <a:pt x="724661" y="39658"/>
                </a:lnTo>
                <a:lnTo>
                  <a:pt x="766954" y="20898"/>
                </a:lnTo>
                <a:lnTo>
                  <a:pt x="808233" y="0"/>
                </a:lnTo>
                <a:close/>
              </a:path>
            </a:pathLst>
          </a:custGeom>
          <a:solidFill>
            <a:srgbClr val="4A7C8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179220" y="3316605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38755" y="3673316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total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810750" y="2857500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989820" y="2884170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Scratch (60%)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810750" y="3143250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989820" y="31699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Dent (27%)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810750" y="3429000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989820" y="3455670"/>
            <a:ext cx="7669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Other (13%)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57200" y="5410200"/>
            <a:ext cx="11277600" cy="457200"/>
          </a:xfrm>
          <a:prstGeom prst="roundRect">
            <a:avLst>
              <a:gd name="adj" fmla="val 8333"/>
            </a:avLst>
          </a:prstGeom>
          <a:solidFill>
            <a:srgbClr val="ED6B13">
              <a:alpha val="8000"/>
            </a:srgbClr>
          </a:solidFill>
          <a:ln w="9525">
            <a:solidFill>
              <a:srgbClr val="ED6B13">
                <a:alpha val="8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36270" y="5522595"/>
            <a:ext cx="621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⚠ Insight: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17320" y="5522595"/>
            <a:ext cx="60596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3 MTD damages recorded — all below target threshold. Dominant type: Scratch. No escalation required.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222" y="5702141"/>
            <a:ext cx="27217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Monitor closely — 9 working days remaining in May.</a:t>
            </a:r>
          </a:p>
        </p:txBody>
      </p:sp>
      <p:sp>
        <p:nvSpPr>
          <p:cNvPr id="54" name="Rectangle 5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13410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Pending Vehicles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83705" y="225266"/>
            <a:ext cx="961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As of 19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3429000" cy="723900"/>
          </a:xfrm>
          <a:prstGeom prst="roundRect">
            <a:avLst>
              <a:gd name="adj" fmla="val 5263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7222" y="787241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Total Pending Vehicles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5790" y="882015"/>
            <a:ext cx="3379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760" y="1108710"/>
            <a:ext cx="6545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vehicles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038600" y="647700"/>
            <a:ext cx="1905000" cy="723900"/>
          </a:xfrm>
          <a:prstGeom prst="roundRect">
            <a:avLst>
              <a:gd name="adj" fmla="val 5263"/>
            </a:avLst>
          </a:prstGeom>
          <a:solidFill>
            <a:srgbClr val="D14545">
              <a:alpha val="12000"/>
            </a:srgbClr>
          </a:solidFill>
          <a:ln w="9525">
            <a:solidFill>
              <a:srgbClr val="D14545">
                <a:alpha val="12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218622" y="825341"/>
            <a:ext cx="9739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April Carry-Over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91000" y="91440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35818" y="1132999"/>
            <a:ext cx="4603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vehicle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096000" y="647700"/>
            <a:ext cx="1905000" cy="723900"/>
          </a:xfrm>
          <a:prstGeom prst="roundRect">
            <a:avLst>
              <a:gd name="adj" fmla="val 5263"/>
            </a:avLst>
          </a:prstGeom>
          <a:solidFill>
            <a:srgbClr val="ED6B13">
              <a:alpha val="10000"/>
            </a:srgbClr>
          </a:solidFill>
          <a:ln w="9525">
            <a:solidFill>
              <a:srgbClr val="ED6B13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276022" y="825341"/>
            <a:ext cx="586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May Cases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48400" y="914400"/>
            <a:ext cx="3072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93218" y="1132999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vehicles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647700"/>
            <a:ext cx="3581400" cy="723900"/>
          </a:xfrm>
          <a:prstGeom prst="roundRect">
            <a:avLst>
              <a:gd name="adj" fmla="val 5263"/>
            </a:avLst>
          </a:prstGeom>
          <a:solidFill>
            <a:srgbClr val="D1454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33422" y="825341"/>
            <a:ext cx="7470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CCCC"/>
                </a:solidFill>
                <a:latin typeface="Segoe UI"/>
                <a:ea typeface="Microsoft YaHei"/>
                <a:cs typeface="Segoe UI"/>
              </a:rPr>
              <a:t>⚠ Oldest Case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17230" y="992505"/>
            <a:ext cx="19351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40 Days Aging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6070" y="1122045"/>
            <a:ext cx="7189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CCCC"/>
                </a:solidFill>
                <a:latin typeface="Segoe UI"/>
                <a:ea typeface="Microsoft YaHei"/>
                <a:cs typeface="Segoe UI"/>
              </a:rPr>
              <a:t>Apr-26 case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6722" y="1530191"/>
            <a:ext cx="1326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APRIL — CARRY-OVER (1)</a:t>
            </a:r>
          </a:p>
        </p:txBody>
      </p:sp>
      <p:sp>
        <p:nvSpPr>
          <p:cNvPr id="24" name="Line 24"/>
          <p:cNvSpPr/>
          <p:nvPr/>
        </p:nvSpPr>
        <p:spPr>
          <a:xfrm>
            <a:off x="457200" y="16764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14545">
                <a:alpha val="40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57200" y="1733550"/>
            <a:ext cx="11277600" cy="2476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42925" y="1824038"/>
            <a:ext cx="1660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66925" y="1824038"/>
            <a:ext cx="4233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Product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9425" y="1824038"/>
            <a:ext cx="481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PIO Plant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67175" y="1824038"/>
            <a:ext cx="5546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DBM Order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05425" y="1824038"/>
            <a:ext cx="2238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76925" y="1824038"/>
            <a:ext cx="4548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PDT Date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924675" y="1824038"/>
            <a:ext cx="3655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Status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48675" y="1824038"/>
            <a:ext cx="2815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Aging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15425" y="1824038"/>
            <a:ext cx="4443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Remarks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" y="1981200"/>
            <a:ext cx="11277600" cy="247650"/>
          </a:xfrm>
          <a:prstGeom prst="rect">
            <a:avLst/>
          </a:prstGeom>
          <a:solidFill>
            <a:srgbClr val="D14545">
              <a:alpha val="6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42925" y="2062162"/>
            <a:ext cx="9741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MHFAB1BY7T3185274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66925" y="2062162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VELOZ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19425" y="206216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Plant-1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67175" y="2062162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3019394555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05425" y="20621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76925" y="2062162"/>
            <a:ext cx="4591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9-Apr-26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24675" y="2062162"/>
            <a:ext cx="680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PIO QC Failed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362950" y="2019300"/>
            <a:ext cx="552450" cy="171450"/>
          </a:xfrm>
          <a:prstGeom prst="roundRect">
            <a:avLst>
              <a:gd name="adj" fmla="val 16667"/>
            </a:avLst>
          </a:prstGeom>
          <a:solidFill>
            <a:srgbClr val="D14545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40626" y="2062162"/>
            <a:ext cx="3970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40 Days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15425" y="2062162"/>
            <a:ext cx="11791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Floor Illumination (VMC)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46722" y="2349341"/>
            <a:ext cx="14360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MAY — CURRENT MONTH (4)</a:t>
            </a:r>
          </a:p>
        </p:txBody>
      </p:sp>
      <p:sp>
        <p:nvSpPr>
          <p:cNvPr id="47" name="Line 47"/>
          <p:cNvSpPr/>
          <p:nvPr/>
        </p:nvSpPr>
        <p:spPr>
          <a:xfrm>
            <a:off x="457200" y="24955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ED6B13">
                <a:alpha val="4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57200" y="2552700"/>
            <a:ext cx="11277600" cy="2476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2925" y="2643188"/>
            <a:ext cx="4233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Product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95425" y="2643188"/>
            <a:ext cx="481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PIO Plant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43175" y="2643188"/>
            <a:ext cx="2133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DBM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81425" y="2643188"/>
            <a:ext cx="2238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Line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352925" y="2643188"/>
            <a:ext cx="4548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PDT Date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95925" y="2643188"/>
            <a:ext cx="3655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Status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019925" y="2643188"/>
            <a:ext cx="2815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Aging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86675" y="2643188"/>
            <a:ext cx="4443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Remarks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57200" y="2800350"/>
            <a:ext cx="112776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542925" y="2881312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CAMRY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95425" y="28813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Plant-1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543175" y="2881312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3019634199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781425" y="28813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352925" y="288131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5/19/2026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95925" y="2881312"/>
            <a:ext cx="680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PIO QC Failed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934200" y="283845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022009" y="2881312"/>
            <a:ext cx="2815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 Day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686675" y="288131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Technical Issue</a:t>
            </a:r>
          </a:p>
        </p:txBody>
      </p:sp>
      <p:sp>
        <p:nvSpPr>
          <p:cNvPr id="67" name="Rectangle 67"/>
          <p:cNvSpPr/>
          <p:nvPr/>
        </p:nvSpPr>
        <p:spPr>
          <a:xfrm>
            <a:off x="457200" y="3048000"/>
            <a:ext cx="11277600" cy="2476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542925" y="3128962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CAMRY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95425" y="312896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Plant-3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543175" y="3128962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3019605224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781425" y="31289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3C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352925" y="312896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5/14/2026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495925" y="3128962"/>
            <a:ext cx="680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PIO QC Failed</a:t>
            </a:r>
          </a:p>
        </p:txBody>
      </p:sp>
      <p:sp>
        <p:nvSpPr>
          <p:cNvPr id="74" name="Rectangle 74"/>
          <p:cNvSpPr/>
          <p:nvPr/>
        </p:nvSpPr>
        <p:spPr>
          <a:xfrm>
            <a:off x="6934200" y="308610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6993130" y="3128962"/>
            <a:ext cx="3393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 Days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686675" y="3128962"/>
            <a:ext cx="1539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Electronic Parking Brake (VMC)</a:t>
            </a:r>
          </a:p>
        </p:txBody>
      </p:sp>
      <p:sp>
        <p:nvSpPr>
          <p:cNvPr id="77" name="Rectangle 77"/>
          <p:cNvSpPr/>
          <p:nvPr/>
        </p:nvSpPr>
        <p:spPr>
          <a:xfrm>
            <a:off x="457200" y="3295650"/>
            <a:ext cx="112776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42925" y="3376612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CAMRY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495425" y="33766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Plant-4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543175" y="3376612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3019633524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781425" y="33766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4A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352925" y="337661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5/19/2026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495925" y="3376612"/>
            <a:ext cx="680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PIO QC Failed</a:t>
            </a:r>
          </a:p>
        </p:txBody>
      </p:sp>
      <p:sp>
        <p:nvSpPr>
          <p:cNvPr id="84" name="Rectangle 84"/>
          <p:cNvSpPr/>
          <p:nvPr/>
        </p:nvSpPr>
        <p:spPr>
          <a:xfrm>
            <a:off x="6934200" y="333375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7022009" y="3376612"/>
            <a:ext cx="2815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 Day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686675" y="337661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Technical Issue</a:t>
            </a:r>
          </a:p>
        </p:txBody>
      </p:sp>
      <p:sp>
        <p:nvSpPr>
          <p:cNvPr id="87" name="Rectangle 87"/>
          <p:cNvSpPr/>
          <p:nvPr/>
        </p:nvSpPr>
        <p:spPr>
          <a:xfrm>
            <a:off x="457200" y="3543300"/>
            <a:ext cx="11277600" cy="2476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42925" y="3624262"/>
            <a:ext cx="4090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YARIS SD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95425" y="362426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Plant-4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543175" y="3624262"/>
            <a:ext cx="5691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3019627426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781425" y="36242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352925" y="362426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5/18/2026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495925" y="3624262"/>
            <a:ext cx="680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PIO QC Failed</a:t>
            </a:r>
          </a:p>
        </p:txBody>
      </p:sp>
      <p:sp>
        <p:nvSpPr>
          <p:cNvPr id="94" name="Rectangle 94"/>
          <p:cNvSpPr/>
          <p:nvPr/>
        </p:nvSpPr>
        <p:spPr>
          <a:xfrm>
            <a:off x="6934200" y="3581400"/>
            <a:ext cx="457200" cy="171450"/>
          </a:xfrm>
          <a:prstGeom prst="roundRect">
            <a:avLst>
              <a:gd name="adj" fmla="val 16667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6993130" y="3624262"/>
            <a:ext cx="3393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 Days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686675" y="3624262"/>
            <a:ext cx="744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Technical Issue</a:t>
            </a:r>
          </a:p>
        </p:txBody>
      </p:sp>
      <p:sp>
        <p:nvSpPr>
          <p:cNvPr id="97" name="Line 97"/>
          <p:cNvSpPr/>
          <p:nvPr/>
        </p:nvSpPr>
        <p:spPr>
          <a:xfrm>
            <a:off x="457200" y="3790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98" name="Rectangle 98"/>
          <p:cNvSpPr/>
          <p:nvPr/>
        </p:nvSpPr>
        <p:spPr>
          <a:xfrm>
            <a:off x="457200" y="3924300"/>
            <a:ext cx="5524500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637222" y="4044791"/>
            <a:ext cx="887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Action Required</a:t>
            </a:r>
          </a:p>
        </p:txBody>
      </p:sp>
      <p:sp>
        <p:nvSpPr>
          <p:cNvPr id="100" name="Line 100"/>
          <p:cNvSpPr/>
          <p:nvPr/>
        </p:nvSpPr>
        <p:spPr>
          <a:xfrm>
            <a:off x="647700" y="419100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E8E5DF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637222" y="4292441"/>
            <a:ext cx="22908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• VELOZ (Apr) — 40 days aging: ESCALATE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37222" y="4501991"/>
            <a:ext cx="26007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• 3× CAMRY Technical Issues — VMC review needed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37222" y="4711541"/>
            <a:ext cx="2771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• YARIS SD Parking Brake — cross-check with Plant 3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37222" y="4921091"/>
            <a:ext cx="2710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• All May cases within 1–6 days — no escalation yet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6191250" y="3924300"/>
            <a:ext cx="5543550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06" name="TextBox 106"/>
          <p:cNvSpPr txBox="1"/>
          <p:nvPr/>
        </p:nvSpPr>
        <p:spPr>
          <a:xfrm>
            <a:off x="6371272" y="4044791"/>
            <a:ext cx="1020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Aging Distribution</a:t>
            </a:r>
          </a:p>
        </p:txBody>
      </p:sp>
      <p:sp>
        <p:nvSpPr>
          <p:cNvPr id="107" name="Line 107"/>
          <p:cNvSpPr/>
          <p:nvPr/>
        </p:nvSpPr>
        <p:spPr>
          <a:xfrm>
            <a:off x="6381750" y="41910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5181600" h="9525">
                <a:moveTo>
                  <a:pt x="0" y="0"/>
                </a:moveTo>
                <a:lnTo>
                  <a:pt x="5181600" y="0"/>
                </a:lnTo>
              </a:path>
            </a:pathLst>
          </a:custGeom>
          <a:noFill/>
          <a:ln w="9525">
            <a:solidFill>
              <a:srgbClr val="E8E5DF"/>
            </a:solidFill>
          </a:ln>
        </p:spPr>
      </p:sp>
      <p:sp>
        <p:nvSpPr>
          <p:cNvPr id="108" name="TextBox 108"/>
          <p:cNvSpPr txBox="1"/>
          <p:nvPr/>
        </p:nvSpPr>
        <p:spPr>
          <a:xfrm>
            <a:off x="6467475" y="4338638"/>
            <a:ext cx="6841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40 Days (Apr)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7429500" y="4305300"/>
            <a:ext cx="3048000" cy="152400"/>
          </a:xfrm>
          <a:prstGeom prst="roundRect">
            <a:avLst>
              <a:gd name="adj" fmla="val 12500"/>
            </a:avLst>
          </a:prstGeom>
          <a:solidFill>
            <a:srgbClr val="D14545"/>
          </a:solidFill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10544175" y="4338638"/>
            <a:ext cx="313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D14545"/>
                </a:solidFill>
                <a:latin typeface="Segoe UI"/>
                <a:ea typeface="Microsoft YaHei"/>
                <a:cs typeface="Segoe UI"/>
              </a:rPr>
              <a:t>1 unit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467475" y="4605338"/>
            <a:ext cx="324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6 Days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429500" y="4572000"/>
            <a:ext cx="457200" cy="152400"/>
          </a:xfrm>
          <a:prstGeom prst="roundRect">
            <a:avLst>
              <a:gd name="adj" fmla="val 125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7953375" y="4605338"/>
            <a:ext cx="313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 unit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467475" y="487203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1–2 Days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7429500" y="4838700"/>
            <a:ext cx="914400" cy="152400"/>
          </a:xfrm>
          <a:prstGeom prst="roundRect">
            <a:avLst>
              <a:gd name="adj" fmla="val 12500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8410575" y="4872038"/>
            <a:ext cx="3708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3 units</a:t>
            </a:r>
          </a:p>
        </p:txBody>
      </p:sp>
      <p:sp>
        <p:nvSpPr>
          <p:cNvPr id="117" name="Rectangle 11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16434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VLD Damage Leakage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5721" y="22526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3238500" cy="952500"/>
          </a:xfrm>
          <a:prstGeom prst="roundRect">
            <a:avLst>
              <a:gd name="adj" fmla="val 4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7222" y="825341"/>
            <a:ext cx="989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Total MTD Leakage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360" y="1003935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319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9260" y="1327785"/>
            <a:ext cx="4705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cases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48100" y="647700"/>
            <a:ext cx="2667000" cy="952500"/>
          </a:xfrm>
          <a:prstGeom prst="roundRect">
            <a:avLst>
              <a:gd name="adj" fmla="val 4000"/>
            </a:avLst>
          </a:prstGeom>
          <a:solidFill>
            <a:srgbClr val="ED6B13">
              <a:alpha val="12000"/>
            </a:srgbClr>
          </a:solidFill>
          <a:ln w="9525">
            <a:solidFill>
              <a:srgbClr val="ED6B13">
                <a:alpha val="12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28122" y="825341"/>
            <a:ext cx="7833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Majority Type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4310" y="1118235"/>
            <a:ext cx="152406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Scratch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28122" y="1473041"/>
            <a:ext cx="1264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188 of 319 cases (59%)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770" y="1750695"/>
            <a:ext cx="14783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LEAKAGE BY DAMAGE TYPE</a:t>
            </a:r>
          </a:p>
        </p:txBody>
      </p:sp>
      <p:sp>
        <p:nvSpPr>
          <p:cNvPr id="16" name="Line 16"/>
          <p:cNvSpPr/>
          <p:nvPr/>
        </p:nvSpPr>
        <p:spPr>
          <a:xfrm>
            <a:off x="457200" y="19050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57200" y="2038350"/>
            <a:ext cx="11277600" cy="40005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7222" y="2158841"/>
            <a:ext cx="16150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Damage Type — Count &amp; Share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" y="2476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51522" y="2635091"/>
            <a:ext cx="4445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Scratch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95500" y="2590800"/>
            <a:ext cx="5057775" cy="190500"/>
          </a:xfrm>
          <a:prstGeom prst="roundRect">
            <a:avLst>
              <a:gd name="adj" fmla="val 1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209472" y="2635091"/>
            <a:ext cx="2115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188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00975" y="2643188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59.0%</a:t>
            </a:r>
          </a:p>
        </p:txBody>
      </p:sp>
      <p:sp>
        <p:nvSpPr>
          <p:cNvPr id="24" name="Line 24"/>
          <p:cNvSpPr/>
          <p:nvPr/>
        </p:nvSpPr>
        <p:spPr>
          <a:xfrm>
            <a:off x="762000" y="283845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51522" y="2977991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Dent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095500" y="2933700"/>
            <a:ext cx="2524125" cy="190500"/>
          </a:xfrm>
          <a:prstGeom prst="roundRect">
            <a:avLst>
              <a:gd name="adj" fmla="val 10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75822" y="2977991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94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33975" y="2986088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29.5%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318135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51522" y="3320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Stone Chip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095500" y="3276600"/>
            <a:ext cx="428625" cy="190500"/>
          </a:xfrm>
          <a:prstGeom prst="roundRect">
            <a:avLst>
              <a:gd name="adj" fmla="val 10000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580322" y="3320891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16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43225" y="3328988"/>
            <a:ext cx="259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5.0%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352425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51522" y="3663791"/>
            <a:ext cx="7140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Paint Damage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095500" y="3619500"/>
            <a:ext cx="352425" cy="190500"/>
          </a:xfrm>
          <a:prstGeom prst="roundRect">
            <a:avLst>
              <a:gd name="adj" fmla="val 10000"/>
            </a:avLst>
          </a:prstGeom>
          <a:solidFill>
            <a:srgbClr val="4A7C8E">
              <a:alpha val="6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504122" y="3663791"/>
            <a:ext cx="148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67025" y="3671888"/>
            <a:ext cx="259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4.1%</a:t>
            </a:r>
          </a:p>
        </p:txBody>
      </p:sp>
      <p:sp>
        <p:nvSpPr>
          <p:cNvPr id="39" name="Line 39"/>
          <p:cNvSpPr/>
          <p:nvPr/>
        </p:nvSpPr>
        <p:spPr>
          <a:xfrm>
            <a:off x="762000" y="386715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51522" y="40066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Other Types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2095500" y="3962400"/>
            <a:ext cx="219075" cy="190500"/>
          </a:xfrm>
          <a:prstGeom prst="roundRect">
            <a:avLst>
              <a:gd name="adj" fmla="val 10000"/>
            </a:avLst>
          </a:prstGeom>
          <a:solidFill>
            <a:srgbClr val="D8D4C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370772" y="4006691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19375" y="4014788"/>
            <a:ext cx="259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2.5%</a:t>
            </a:r>
          </a:p>
        </p:txBody>
      </p:sp>
      <p:sp>
        <p:nvSpPr>
          <p:cNvPr id="44" name="Line 44"/>
          <p:cNvSpPr/>
          <p:nvPr/>
        </p:nvSpPr>
        <p:spPr>
          <a:xfrm>
            <a:off x="762000" y="4210050"/>
            <a:ext cx="10477500" cy="9525"/>
          </a:xfrm>
          <a:custGeom>
            <a:avLst/>
            <a:gdLst/>
            <a:ahLst/>
            <a:cxnLst/>
            <a:rect l="l" t="t" r="r" b="b"/>
            <a:pathLst>
              <a:path w="10477500" h="9525">
                <a:moveTo>
                  <a:pt x="0" y="0"/>
                </a:moveTo>
                <a:lnTo>
                  <a:pt x="10477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" y="4286250"/>
            <a:ext cx="10801350" cy="266700"/>
          </a:xfrm>
          <a:prstGeom prst="rect">
            <a:avLst/>
          </a:prstGeom>
          <a:solidFill>
            <a:srgbClr val="28424D">
              <a:alpha val="6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51522" y="4378166"/>
            <a:ext cx="3617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TOTAL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128510" y="4337685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319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10475" y="4386262"/>
            <a:ext cx="259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47700" y="4705350"/>
            <a:ext cx="10801350" cy="762000"/>
          </a:xfrm>
          <a:prstGeom prst="roundRect">
            <a:avLst>
              <a:gd name="adj" fmla="val 5000"/>
            </a:avLst>
          </a:prstGeom>
          <a:solidFill>
            <a:srgbClr val="ED6B13">
              <a:alpha val="6000"/>
            </a:srgbClr>
          </a:solidFill>
          <a:ln w="9525">
            <a:solidFill>
              <a:srgbClr val="ED6B13">
                <a:alpha val="6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26770" y="4817745"/>
            <a:ext cx="1024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Key Observation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6770" y="5027295"/>
            <a:ext cx="54355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Scratch accounts for 59% of all VLD leakage (188 cases). Dent follows at 29.5% (94 cases).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6770" y="5217795"/>
            <a:ext cx="65216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Combined, these two types represent 88.5% — handling and transit protocols are the primary mitigation lever.</a:t>
            </a:r>
          </a:p>
        </p:txBody>
      </p:sp>
      <p:sp>
        <p:nvSpPr>
          <p:cNvPr id="53" name="Rectangle 53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17358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Manpower Utilization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91743" y="2252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19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7222" y="825341"/>
            <a:ext cx="10660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Attended Manpower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360" y="11658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307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5755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25755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37572" y="825341"/>
            <a:ext cx="12036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Production Planned MP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94710" y="11658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295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57900" y="647700"/>
            <a:ext cx="2647950" cy="12382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57900" y="647700"/>
            <a:ext cx="38100" cy="123825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237922" y="825341"/>
            <a:ext cx="12531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Manpower Utilization 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02680" y="1154430"/>
            <a:ext cx="157842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96.1%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905750" y="838200"/>
            <a:ext cx="571500" cy="228600"/>
          </a:xfrm>
          <a:prstGeom prst="roundRect">
            <a:avLst>
              <a:gd name="adj" fmla="val 16667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066461" y="919162"/>
            <a:ext cx="250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Good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858250" y="647700"/>
            <a:ext cx="2876550" cy="1238250"/>
          </a:xfrm>
          <a:prstGeom prst="roundRect">
            <a:avLst>
              <a:gd name="adj" fmla="val 307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8272" y="825341"/>
            <a:ext cx="10490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Surplus vs Planned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03030" y="115443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+12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90760" y="1413510"/>
            <a:ext cx="518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people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770" y="2055495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UTILIZATION BY PLANT — MTD TREND</a:t>
            </a:r>
          </a:p>
        </p:txBody>
      </p:sp>
      <p:sp>
        <p:nvSpPr>
          <p:cNvPr id="25" name="Line 25"/>
          <p:cNvSpPr/>
          <p:nvPr/>
        </p:nvSpPr>
        <p:spPr>
          <a:xfrm>
            <a:off x="457200" y="22098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57200" y="2343150"/>
            <a:ext cx="5334000" cy="314325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37222" y="2463641"/>
            <a:ext cx="20771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Today — Attended vs Planned by Plant</a:t>
            </a:r>
          </a:p>
        </p:txBody>
      </p:sp>
      <p:sp>
        <p:nvSpPr>
          <p:cNvPr id="28" name="Line 28"/>
          <p:cNvSpPr/>
          <p:nvPr/>
        </p:nvSpPr>
        <p:spPr>
          <a:xfrm>
            <a:off x="762000" y="5048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9" name="Line 29"/>
          <p:cNvSpPr/>
          <p:nvPr/>
        </p:nvSpPr>
        <p:spPr>
          <a:xfrm>
            <a:off x="762000" y="4095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0" name="Line 30"/>
          <p:cNvSpPr/>
          <p:nvPr/>
        </p:nvSpPr>
        <p:spPr>
          <a:xfrm>
            <a:off x="762000" y="3619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1" name="Line 31"/>
          <p:cNvSpPr/>
          <p:nvPr/>
        </p:nvSpPr>
        <p:spPr>
          <a:xfrm>
            <a:off x="762000" y="3143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9757" y="4060984"/>
            <a:ext cx="1836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9757" y="3584734"/>
            <a:ext cx="1836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75%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0250" y="3108484"/>
            <a:ext cx="2331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3143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6D8F3B"/>
            </a:solidFill>
            <a:custDash>
              <a:ds d="400000" sp="300000"/>
            </a:custDash>
          </a:ln>
        </p:spPr>
      </p:sp>
      <p:sp>
        <p:nvSpPr>
          <p:cNvPr id="36" name="Rectangle 36"/>
          <p:cNvSpPr/>
          <p:nvPr/>
        </p:nvSpPr>
        <p:spPr>
          <a:xfrm>
            <a:off x="1047750" y="3209925"/>
            <a:ext cx="476250" cy="183832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21343" y="49672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1456" y="3043238"/>
            <a:ext cx="3288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96.5%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095500" y="3143250"/>
            <a:ext cx="476250" cy="1905000"/>
          </a:xfrm>
          <a:prstGeom prst="rect">
            <a:avLst/>
          </a:prstGeom>
          <a:solidFill>
            <a:srgbClr val="6D8F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269093" y="49672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53454" y="2967038"/>
            <a:ext cx="3603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100% ★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3143250"/>
            <a:ext cx="476250" cy="1905000"/>
          </a:xfrm>
          <a:prstGeom prst="rect">
            <a:avLst/>
          </a:prstGeom>
          <a:solidFill>
            <a:srgbClr val="6D8F3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316843" y="49672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01204" y="2967038"/>
            <a:ext cx="3603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100% ★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191000" y="3190875"/>
            <a:ext cx="476250" cy="1857375"/>
          </a:xfrm>
          <a:prstGeom prst="rect">
            <a:avLst/>
          </a:prstGeom>
          <a:solidFill>
            <a:srgbClr val="4A7C8E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364593" y="49672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64706" y="3014662"/>
            <a:ext cx="3288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97.5%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00750" y="2343150"/>
            <a:ext cx="5734050" cy="314325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180772" y="2463641"/>
            <a:ext cx="2331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MTD Utilization % — Daily Trend (4 Plants)</a:t>
            </a:r>
          </a:p>
        </p:txBody>
      </p:sp>
      <p:sp>
        <p:nvSpPr>
          <p:cNvPr id="50" name="Line 50"/>
          <p:cNvSpPr/>
          <p:nvPr/>
        </p:nvSpPr>
        <p:spPr>
          <a:xfrm>
            <a:off x="6286500" y="5048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51" name="Line 51"/>
          <p:cNvSpPr/>
          <p:nvPr/>
        </p:nvSpPr>
        <p:spPr>
          <a:xfrm>
            <a:off x="6286500" y="40957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52" name="Line 52"/>
          <p:cNvSpPr/>
          <p:nvPr/>
        </p:nvSpPr>
        <p:spPr>
          <a:xfrm>
            <a:off x="6286500" y="3619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53" name="Line 53"/>
          <p:cNvSpPr/>
          <p:nvPr/>
        </p:nvSpPr>
        <p:spPr>
          <a:xfrm>
            <a:off x="6286500" y="3143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6D8F3B"/>
            </a:solidFill>
            <a:custDash>
              <a:ds d="400000" sp="300000"/>
            </a:custDash>
          </a:ln>
        </p:spPr>
      </p:sp>
      <p:sp>
        <p:nvSpPr>
          <p:cNvPr id="54" name="TextBox 54"/>
          <p:cNvSpPr txBox="1"/>
          <p:nvPr/>
        </p:nvSpPr>
        <p:spPr>
          <a:xfrm>
            <a:off x="11469052" y="3108484"/>
            <a:ext cx="2331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054257" y="4060984"/>
            <a:ext cx="1836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50%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054257" y="3584734"/>
            <a:ext cx="1836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75%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004751" y="3108484"/>
            <a:ext cx="23317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58" name="Polyline 58"/>
          <p:cNvSpPr/>
          <p:nvPr/>
        </p:nvSpPr>
        <p:spPr>
          <a:xfrm>
            <a:off x="6477000" y="3190875"/>
            <a:ext cx="4762500" cy="47625"/>
          </a:xfrm>
          <a:custGeom>
            <a:avLst/>
            <a:gdLst/>
            <a:ahLst/>
            <a:cxnLst/>
            <a:rect l="l" t="t" r="r" b="b"/>
            <a:pathLst>
              <a:path w="4762500" h="47625">
                <a:moveTo>
                  <a:pt x="0" y="47625"/>
                </a:moveTo>
                <a:lnTo>
                  <a:pt x="952500" y="19050"/>
                </a:lnTo>
                <a:lnTo>
                  <a:pt x="1905000" y="0"/>
                </a:lnTo>
                <a:lnTo>
                  <a:pt x="2857500" y="28575"/>
                </a:lnTo>
                <a:lnTo>
                  <a:pt x="3810000" y="19050"/>
                </a:lnTo>
                <a:lnTo>
                  <a:pt x="4762500" y="19050"/>
                </a:lnTo>
              </a:path>
            </a:pathLst>
          </a:custGeom>
          <a:noFill/>
          <a:ln w="19050">
            <a:solidFill>
              <a:srgbClr val="28424D"/>
            </a:solidFill>
          </a:ln>
        </p:spPr>
      </p:sp>
      <p:sp>
        <p:nvSpPr>
          <p:cNvPr id="59" name="Polyline 59"/>
          <p:cNvSpPr/>
          <p:nvPr/>
        </p:nvSpPr>
        <p:spPr>
          <a:xfrm>
            <a:off x="6477000" y="3143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952500" y="0"/>
                </a:lnTo>
                <a:lnTo>
                  <a:pt x="1905000" y="0"/>
                </a:lnTo>
                <a:lnTo>
                  <a:pt x="2857500" y="0"/>
                </a:lnTo>
                <a:lnTo>
                  <a:pt x="3810000" y="0"/>
                </a:lnTo>
                <a:lnTo>
                  <a:pt x="4762500" y="0"/>
                </a:lnTo>
              </a:path>
            </a:pathLst>
          </a:custGeom>
          <a:noFill/>
          <a:ln w="19050">
            <a:solidFill>
              <a:srgbClr val="6D8F3B"/>
            </a:solidFill>
          </a:ln>
        </p:spPr>
      </p:sp>
      <p:sp>
        <p:nvSpPr>
          <p:cNvPr id="60" name="Polyline 60"/>
          <p:cNvSpPr/>
          <p:nvPr/>
        </p:nvSpPr>
        <p:spPr>
          <a:xfrm>
            <a:off x="6477000" y="3143250"/>
            <a:ext cx="4762500" cy="28575"/>
          </a:xfrm>
          <a:custGeom>
            <a:avLst/>
            <a:gdLst/>
            <a:ahLst/>
            <a:cxnLst/>
            <a:rect l="l" t="t" r="r" b="b"/>
            <a:pathLst>
              <a:path w="4762500" h="28575">
                <a:moveTo>
                  <a:pt x="0" y="28575"/>
                </a:moveTo>
                <a:lnTo>
                  <a:pt x="952500" y="0"/>
                </a:lnTo>
                <a:lnTo>
                  <a:pt x="1905000" y="19050"/>
                </a:lnTo>
                <a:lnTo>
                  <a:pt x="2857500" y="9525"/>
                </a:lnTo>
                <a:lnTo>
                  <a:pt x="3810000" y="0"/>
                </a:lnTo>
                <a:lnTo>
                  <a:pt x="4762500" y="19050"/>
                </a:lnTo>
              </a:path>
            </a:pathLst>
          </a:custGeom>
          <a:noFill/>
          <a:ln w="19050">
            <a:solidFill>
              <a:srgbClr val="4A7C8E"/>
            </a:solidFill>
          </a:ln>
        </p:spPr>
      </p:sp>
      <p:sp>
        <p:nvSpPr>
          <p:cNvPr id="61" name="Polyline 61"/>
          <p:cNvSpPr/>
          <p:nvPr/>
        </p:nvSpPr>
        <p:spPr>
          <a:xfrm>
            <a:off x="6477000" y="3190875"/>
            <a:ext cx="4762500" cy="95250"/>
          </a:xfrm>
          <a:custGeom>
            <a:avLst/>
            <a:gdLst/>
            <a:ahLst/>
            <a:cxnLst/>
            <a:rect l="l" t="t" r="r" b="b"/>
            <a:pathLst>
              <a:path w="4762500" h="95250">
                <a:moveTo>
                  <a:pt x="0" y="95250"/>
                </a:moveTo>
                <a:lnTo>
                  <a:pt x="952500" y="28575"/>
                </a:lnTo>
                <a:lnTo>
                  <a:pt x="1905000" y="9525"/>
                </a:lnTo>
                <a:lnTo>
                  <a:pt x="2857500" y="19050"/>
                </a:lnTo>
                <a:lnTo>
                  <a:pt x="3810000" y="0"/>
                </a:lnTo>
                <a:lnTo>
                  <a:pt x="4762500" y="0"/>
                </a:lnTo>
              </a:path>
            </a:pathLst>
          </a:custGeom>
          <a:noFill/>
          <a:ln w="19050">
            <a:solidFill>
              <a:srgbClr val="ED6B13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6286500" y="5314950"/>
            <a:ext cx="95250" cy="952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430328" y="5337334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048500" y="5314950"/>
            <a:ext cx="95250" cy="95250"/>
          </a:xfrm>
          <a:prstGeom prst="rect">
            <a:avLst/>
          </a:prstGeom>
          <a:solidFill>
            <a:srgbClr val="6D8F3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192328" y="5337334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66" name="Rectangle 66"/>
          <p:cNvSpPr/>
          <p:nvPr/>
        </p:nvSpPr>
        <p:spPr>
          <a:xfrm>
            <a:off x="7810500" y="5314950"/>
            <a:ext cx="95250" cy="95250"/>
          </a:xfrm>
          <a:prstGeom prst="rect">
            <a:avLst/>
          </a:prstGeom>
          <a:solidFill>
            <a:srgbClr val="4A7C8E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954328" y="5337334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3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572500" y="5314950"/>
            <a:ext cx="95250" cy="952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8716328" y="5337334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Plant 4</a:t>
            </a:r>
          </a:p>
        </p:txBody>
      </p:sp>
      <p:sp>
        <p:nvSpPr>
          <p:cNvPr id="70" name="Rectangle 70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Incidents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15721" y="225266"/>
            <a:ext cx="829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11277600" cy="1333500"/>
          </a:xfrm>
          <a:prstGeom prst="roundRect">
            <a:avLst>
              <a:gd name="adj" fmla="val 2857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67349" y="657225"/>
            <a:ext cx="107530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FFFFFF">
                    <a:alphaMod val="12000"/>
                  </a:srgbClr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18047" y="923449"/>
            <a:ext cx="11559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ZERO HARM STATUS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2366" y="1179195"/>
            <a:ext cx="416726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 MTD Incidents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47398" y="1734502"/>
            <a:ext cx="42972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No fatal, near-fatal, or Stop-6 incidents recorded this month</a:t>
            </a:r>
          </a:p>
        </p:txBody>
      </p:sp>
      <p:sp>
        <p:nvSpPr>
          <p:cNvPr id="12" name="Ellipse 12"/>
          <p:cNvSpPr/>
          <p:nvPr/>
        </p:nvSpPr>
        <p:spPr>
          <a:xfrm>
            <a:off x="10896600" y="971550"/>
            <a:ext cx="685800" cy="6858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106198" y="1118235"/>
            <a:ext cx="266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5770" y="2169795"/>
            <a:ext cx="20706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INCIDENT CATEGORIES — MTD STATUS</a:t>
            </a:r>
          </a:p>
        </p:txBody>
      </p:sp>
      <p:sp>
        <p:nvSpPr>
          <p:cNvPr id="15" name="Line 15"/>
          <p:cNvSpPr/>
          <p:nvPr/>
        </p:nvSpPr>
        <p:spPr>
          <a:xfrm>
            <a:off x="457200" y="23241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57200" y="2457450"/>
            <a:ext cx="34290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57200" y="245745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703463" y="2703195"/>
            <a:ext cx="9364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Fatal Incidents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64471" y="2924175"/>
            <a:ext cx="61445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409700" y="3829050"/>
            <a:ext cx="1524000" cy="228600"/>
          </a:xfrm>
          <a:prstGeom prst="roundRect">
            <a:avLst>
              <a:gd name="adj" fmla="val 1666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792676" y="3901916"/>
            <a:ext cx="7580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✓ No incidents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2457450"/>
            <a:ext cx="34290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381500" y="245745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769531" y="27031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Near Fatal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8771" y="2924175"/>
            <a:ext cx="61445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334000" y="3829050"/>
            <a:ext cx="1524000" cy="228600"/>
          </a:xfrm>
          <a:prstGeom prst="roundRect">
            <a:avLst>
              <a:gd name="adj" fmla="val 1666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716976" y="3901916"/>
            <a:ext cx="7580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✓ No incidents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305800" y="2457450"/>
            <a:ext cx="34290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05800" y="245745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01657" y="2703195"/>
            <a:ext cx="1037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Stop-6 Incidents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13071" y="2924175"/>
            <a:ext cx="61445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258300" y="3829050"/>
            <a:ext cx="1524000" cy="228600"/>
          </a:xfrm>
          <a:prstGeom prst="roundRect">
            <a:avLst>
              <a:gd name="adj" fmla="val 16667"/>
            </a:avLst>
          </a:prstGeom>
          <a:solidFill>
            <a:srgbClr val="6D8F3B">
              <a:alpha val="10000"/>
            </a:srgbClr>
          </a:solidFill>
          <a:ln w="9525">
            <a:solidFill>
              <a:srgbClr val="6D8F3B">
                <a:alpha val="1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641276" y="3901916"/>
            <a:ext cx="7580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✓ No incidents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" y="4362450"/>
            <a:ext cx="112776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37222" y="4482941"/>
            <a:ext cx="19789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MTD Incident Trend — All Categories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5619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37" name="Line 37"/>
          <p:cNvSpPr/>
          <p:nvPr/>
        </p:nvSpPr>
        <p:spPr>
          <a:xfrm>
            <a:off x="762000" y="5143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8" name="Line 38"/>
          <p:cNvSpPr/>
          <p:nvPr/>
        </p:nvSpPr>
        <p:spPr>
          <a:xfrm>
            <a:off x="762000" y="485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6771" y="5584984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771" y="5108734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6771" y="4822984"/>
            <a:ext cx="666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42" name="Line 42"/>
          <p:cNvSpPr/>
          <p:nvPr/>
        </p:nvSpPr>
        <p:spPr>
          <a:xfrm>
            <a:off x="762000" y="5619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3812">
            <a:solidFill>
              <a:srgbClr val="6D8F3B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347030" y="5387816"/>
            <a:ext cx="34979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All categories at zero — Zero Harm maintained throughout May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3428" y="5699284"/>
            <a:ext cx="26017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May 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41159" y="5699284"/>
            <a:ext cx="30968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May 10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28891" y="5699284"/>
            <a:ext cx="30968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May 19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670268" y="666273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Kaizen Ideas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07683" y="2252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MTD · YTD ·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4000500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7200" y="6477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37222" y="8253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Kaizen Ideas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9120" y="1179195"/>
            <a:ext cx="55301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3510" y="1632585"/>
            <a:ext cx="8625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this month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610100" y="647700"/>
            <a:ext cx="4000500" cy="1333500"/>
          </a:xfrm>
          <a:prstGeom prst="roundRect">
            <a:avLst>
              <a:gd name="adj" fmla="val 2857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90122" y="82534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YTD Kaizen Ideas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32020" y="1179195"/>
            <a:ext cx="1384716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6010" y="1632585"/>
            <a:ext cx="11906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total this year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763000" y="647700"/>
            <a:ext cx="2971800" cy="1333500"/>
          </a:xfrm>
          <a:prstGeom prst="roundRect">
            <a:avLst>
              <a:gd name="adj" fmla="val 2857"/>
            </a:avLst>
          </a:prstGeom>
          <a:solidFill>
            <a:srgbClr val="4A7C8E">
              <a:alpha val="10000"/>
            </a:srgbClr>
          </a:solidFill>
          <a:ln w="9525">
            <a:solidFill>
              <a:srgbClr val="4A7C8E">
                <a:alpha val="1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943022" y="825341"/>
            <a:ext cx="9392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Monthly Average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07780" y="1278255"/>
            <a:ext cx="64590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5010" y="1537335"/>
            <a:ext cx="7265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ideas/mo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43975" y="1785938"/>
            <a:ext cx="1234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YTD avg (110 ÷ 5 months)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5770" y="2150745"/>
            <a:ext cx="27132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MTD IDEAS BY CATEGORY &amp; YTD MONTHLY TREND</a:t>
            </a:r>
          </a:p>
        </p:txBody>
      </p:sp>
      <p:sp>
        <p:nvSpPr>
          <p:cNvPr id="22" name="Line 22"/>
          <p:cNvSpPr/>
          <p:nvPr/>
        </p:nvSpPr>
        <p:spPr>
          <a:xfrm>
            <a:off x="457200" y="23050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57200" y="2438400"/>
            <a:ext cx="5334000" cy="32385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37222" y="2558891"/>
            <a:ext cx="1811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MTD Ideas by Category (8 Total)</a:t>
            </a:r>
          </a:p>
        </p:txBody>
      </p:sp>
      <p:sp>
        <p:nvSpPr>
          <p:cNvPr id="25" name="Line 25"/>
          <p:cNvSpPr/>
          <p:nvPr/>
        </p:nvSpPr>
        <p:spPr>
          <a:xfrm>
            <a:off x="762000" y="53340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1522" y="2882741"/>
            <a:ext cx="11595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Process Improvement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381250" y="2828925"/>
            <a:ext cx="1905000" cy="190500"/>
          </a:xfrm>
          <a:prstGeom prst="roundRect">
            <a:avLst>
              <a:gd name="adj" fmla="val 10000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351972" y="2873216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30861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51522" y="32637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Quality Enhancement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381250" y="3209925"/>
            <a:ext cx="762000" cy="190500"/>
          </a:xfrm>
          <a:prstGeom prst="roundRect">
            <a:avLst>
              <a:gd name="adj" fmla="val 10000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3208972" y="3254216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34671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51522" y="3644741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Safety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381250" y="3590925"/>
            <a:ext cx="381000" cy="190500"/>
          </a:xfrm>
          <a:prstGeom prst="roundRect">
            <a:avLst>
              <a:gd name="adj" fmla="val 10000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27972" y="3635216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37" name="Line 37"/>
          <p:cNvSpPr/>
          <p:nvPr/>
        </p:nvSpPr>
        <p:spPr>
          <a:xfrm>
            <a:off x="762000" y="38481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62000" y="4191000"/>
            <a:ext cx="4381500" cy="762000"/>
          </a:xfrm>
          <a:prstGeom prst="roundRect">
            <a:avLst>
              <a:gd name="adj" fmla="val 5000"/>
            </a:avLst>
          </a:prstGeom>
          <a:solidFill>
            <a:srgbClr val="ED6B13">
              <a:alpha val="6000"/>
            </a:srgbClr>
          </a:solidFill>
          <a:ln w="9525">
            <a:solidFill>
              <a:srgbClr val="ED6B13">
                <a:alpha val="6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41070" y="4322445"/>
            <a:ext cx="10813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May Performance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1070" y="4531995"/>
            <a:ext cx="2201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8 MTD — below monthly average of 22.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070" y="4722495"/>
            <a:ext cx="2243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9 working days remaining to catch up.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000750" y="2438400"/>
            <a:ext cx="5734050" cy="32385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180772" y="2558891"/>
            <a:ext cx="20424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YTD Monthly Kaizen Ideas — 110 Total</a:t>
            </a:r>
          </a:p>
        </p:txBody>
      </p:sp>
      <p:sp>
        <p:nvSpPr>
          <p:cNvPr id="44" name="Line 44"/>
          <p:cNvSpPr/>
          <p:nvPr/>
        </p:nvSpPr>
        <p:spPr>
          <a:xfrm>
            <a:off x="6286500" y="5143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86500" y="40957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46" name="Line 46"/>
          <p:cNvSpPr/>
          <p:nvPr/>
        </p:nvSpPr>
        <p:spPr>
          <a:xfrm>
            <a:off x="6286500" y="3619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47" name="Line 47"/>
          <p:cNvSpPr/>
          <p:nvPr/>
        </p:nvSpPr>
        <p:spPr>
          <a:xfrm>
            <a:off x="6286500" y="3238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48" name="Line 48"/>
          <p:cNvSpPr/>
          <p:nvPr/>
        </p:nvSpPr>
        <p:spPr>
          <a:xfrm>
            <a:off x="6286500" y="2857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8E5D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121765" y="406098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21765" y="358473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30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21765" y="320373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45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21765" y="2822734"/>
            <a:ext cx="1161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60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496050" y="4657725"/>
            <a:ext cx="571500" cy="485775"/>
          </a:xfrm>
          <a:prstGeom prst="rect">
            <a:avLst/>
          </a:prstGeom>
          <a:solidFill>
            <a:srgbClr val="4A7C8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714518" y="4519612"/>
            <a:ext cx="134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14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89765" y="52149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Jan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353300" y="4514850"/>
            <a:ext cx="571500" cy="628650"/>
          </a:xfrm>
          <a:prstGeom prst="rect">
            <a:avLst/>
          </a:prstGeom>
          <a:solidFill>
            <a:srgbClr val="4A7C8E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571768" y="4376738"/>
            <a:ext cx="134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4A7C8E"/>
                </a:solidFill>
                <a:latin typeface="Segoe UI"/>
                <a:ea typeface="Microsoft YaHei"/>
                <a:cs typeface="Segoe UI"/>
              </a:rPr>
              <a:t>18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47015" y="52149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Feb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210550" y="3048000"/>
            <a:ext cx="571500" cy="209550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384387" y="2909888"/>
            <a:ext cx="2238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60 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94263" y="5214938"/>
            <a:ext cx="2040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Mar</a:t>
            </a:r>
          </a:p>
        </p:txBody>
      </p:sp>
      <p:sp>
        <p:nvSpPr>
          <p:cNvPr id="62" name="Rectangle 62"/>
          <p:cNvSpPr/>
          <p:nvPr/>
        </p:nvSpPr>
        <p:spPr>
          <a:xfrm>
            <a:off x="9067800" y="4791075"/>
            <a:ext cx="571500" cy="352425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9286268" y="4652962"/>
            <a:ext cx="134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261515" y="52149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Apr</a:t>
            </a:r>
          </a:p>
        </p:txBody>
      </p:sp>
      <p:sp>
        <p:nvSpPr>
          <p:cNvPr id="65" name="Rectangle 65"/>
          <p:cNvSpPr/>
          <p:nvPr/>
        </p:nvSpPr>
        <p:spPr>
          <a:xfrm>
            <a:off x="9925050" y="4867275"/>
            <a:ext cx="571500" cy="276225"/>
          </a:xfrm>
          <a:prstGeom prst="rect">
            <a:avLst/>
          </a:prstGeom>
          <a:solidFill>
            <a:srgbClr val="D8D4CC"/>
          </a:solidFill>
          <a:ln w="9525">
            <a:solidFill>
              <a:srgbClr val="8A939E"/>
            </a:solidFill>
            <a:custDash>
              <a:ds d="400000" sp="300000"/>
            </a:custDash>
          </a:ln>
        </p:spPr>
      </p:sp>
      <p:sp>
        <p:nvSpPr>
          <p:cNvPr id="66" name="TextBox 66"/>
          <p:cNvSpPr txBox="1"/>
          <p:nvPr/>
        </p:nvSpPr>
        <p:spPr>
          <a:xfrm>
            <a:off x="10059507" y="4729162"/>
            <a:ext cx="3025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8 MTD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081260" y="5214938"/>
            <a:ext cx="259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May*</a:t>
            </a:r>
          </a:p>
        </p:txBody>
      </p:sp>
      <p:sp>
        <p:nvSpPr>
          <p:cNvPr id="68" name="Rectangle 68"/>
          <p:cNvSpPr/>
          <p:nvPr/>
        </p:nvSpPr>
        <p:spPr>
          <a:xfrm>
            <a:off x="10763250" y="3524250"/>
            <a:ext cx="952500" cy="571500"/>
          </a:xfrm>
          <a:prstGeom prst="roundRect">
            <a:avLst>
              <a:gd name="adj" fmla="val 6667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1007447" y="3690938"/>
            <a:ext cx="4641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YTD Total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027946" y="3822382"/>
            <a:ext cx="4231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110</a:t>
            </a:r>
          </a:p>
        </p:txBody>
      </p:sp>
      <p:sp>
        <p:nvSpPr>
          <p:cNvPr id="71" name="Rectangle 71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615261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0"/>
            <a:ext cx="12192000" cy="1905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41960" y="184785"/>
            <a:ext cx="8537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Other Job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91743" y="2252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19 May 2026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" y="647700"/>
            <a:ext cx="11277600" cy="571500"/>
          </a:xfrm>
          <a:prstGeom prst="roundRect">
            <a:avLst>
              <a:gd name="adj" fmla="val 6667"/>
            </a:avLst>
          </a:prstGeom>
          <a:solidFill>
            <a:srgbClr val="28424D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7222" y="768191"/>
            <a:ext cx="22872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Manpower Assigned to Non-Standard Tasks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1030" y="878205"/>
            <a:ext cx="22292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17 Assignments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5665" y="991552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across Plants 1, 2 &amp; 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048500" y="74295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8783" y="826770"/>
            <a:ext cx="621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1: 4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962900" y="74295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033183" y="826770"/>
            <a:ext cx="621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2: 9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77300" y="74295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947583" y="826770"/>
            <a:ext cx="621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3: 2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791700" y="742950"/>
            <a:ext cx="762000" cy="26670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861983" y="826770"/>
            <a:ext cx="621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4: 2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" y="1333500"/>
            <a:ext cx="11277600" cy="24765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42925" y="1423988"/>
            <a:ext cx="1345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6775" y="1423988"/>
            <a:ext cx="2815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275" y="1423988"/>
            <a:ext cx="108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09775" y="1423988"/>
            <a:ext cx="271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Name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95775" y="1423988"/>
            <a:ext cx="250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53025" y="1423988"/>
            <a:ext cx="1923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Hrs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34025" y="1423988"/>
            <a:ext cx="4601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Job Title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48525" y="1423988"/>
            <a:ext cx="250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Task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58275" y="1423988"/>
            <a:ext cx="6911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Justification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158115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42925" y="16430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" y="161925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16984" y="165115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8275" y="16430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46532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09775" y="1643062"/>
            <a:ext cx="12091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Rafiqueislam Abulhossain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95775" y="1643062"/>
            <a:ext cx="534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19-May-26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53025" y="164306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8.5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34025" y="1643062"/>
            <a:ext cx="439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Installer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48525" y="1643062"/>
            <a:ext cx="10441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Act Buffer Inspector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58275" y="1643062"/>
            <a:ext cx="14142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Replace Mohammed Ali #47428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7200" y="1790700"/>
            <a:ext cx="11277600" cy="2095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42925" y="18526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60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38200" y="18288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16984" y="18607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8275" y="18526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46859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09775" y="1852612"/>
            <a:ext cx="13992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Shihab Udheen Kutty Mayyeri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95775" y="1852612"/>
            <a:ext cx="534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19-May-26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53025" y="185261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8.5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34025" y="1852612"/>
            <a:ext cx="439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Installer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48525" y="1852612"/>
            <a:ext cx="7391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Act Supervisor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58275" y="1852612"/>
            <a:ext cx="13742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Replace Naser Almakki #9656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57200" y="200025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42925" y="20621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61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38200" y="203835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16984" y="207025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38275" y="20621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47140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09775" y="2062162"/>
            <a:ext cx="12542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Golam Hasan Abdul Mannan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95775" y="2062162"/>
            <a:ext cx="534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19-May-26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53025" y="206216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8.5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534025" y="2062162"/>
            <a:ext cx="6591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Sensor Holing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48525" y="2062162"/>
            <a:ext cx="6591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Sensor Holing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58275" y="2062162"/>
            <a:ext cx="6591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Sensor Holing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57200" y="2209800"/>
            <a:ext cx="11277600" cy="2095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42925" y="22717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62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38200" y="22479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4A7C8E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16984" y="22798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38275" y="22717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50193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009775" y="2271712"/>
            <a:ext cx="1239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Jayson Gatlbayan Alvarez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95775" y="2271712"/>
            <a:ext cx="5341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19-May-26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153025" y="227171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8.5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534025" y="2271712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—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248525" y="2271712"/>
            <a:ext cx="1004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Refurbishment &amp; DIO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058275" y="2271712"/>
            <a:ext cx="11341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Working with Mr. Islam</a:t>
            </a:r>
          </a:p>
        </p:txBody>
      </p:sp>
      <p:sp>
        <p:nvSpPr>
          <p:cNvPr id="73" name="Rectangle 73"/>
          <p:cNvSpPr/>
          <p:nvPr/>
        </p:nvSpPr>
        <p:spPr>
          <a:xfrm>
            <a:off x="457200" y="2419350"/>
            <a:ext cx="11277600" cy="171450"/>
          </a:xfrm>
          <a:prstGeom prst="rect">
            <a:avLst/>
          </a:prstGeom>
          <a:solidFill>
            <a:srgbClr val="28424D">
              <a:alpha val="8000"/>
            </a:srgbClr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42925" y="2462212"/>
            <a:ext cx="27126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Plant 2 — 9 assignments (Refurbishment &amp; DIO focus)</a:t>
            </a:r>
          </a:p>
        </p:txBody>
      </p:sp>
      <p:sp>
        <p:nvSpPr>
          <p:cNvPr id="75" name="Rectangle 75"/>
          <p:cNvSpPr/>
          <p:nvPr/>
        </p:nvSpPr>
        <p:spPr>
          <a:xfrm>
            <a:off x="457200" y="259080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2925" y="26527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85</a:t>
            </a:r>
          </a:p>
        </p:txBody>
      </p:sp>
      <p:sp>
        <p:nvSpPr>
          <p:cNvPr id="77" name="Rectangle 77"/>
          <p:cNvSpPr/>
          <p:nvPr/>
        </p:nvSpPr>
        <p:spPr>
          <a:xfrm>
            <a:off x="838200" y="26289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916984" y="26608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438275" y="26527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49663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009775" y="2652712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NABHAN PERUMBALLI RASSAK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95775" y="2652712"/>
            <a:ext cx="4591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19-05-26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53025" y="265271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8.5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534025" y="2652712"/>
            <a:ext cx="439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Installer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248525" y="2652712"/>
            <a:ext cx="7141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Act Controller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058275" y="2652712"/>
            <a:ext cx="799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Training control</a:t>
            </a:r>
          </a:p>
        </p:txBody>
      </p:sp>
      <p:sp>
        <p:nvSpPr>
          <p:cNvPr id="86" name="Rectangle 86"/>
          <p:cNvSpPr/>
          <p:nvPr/>
        </p:nvSpPr>
        <p:spPr>
          <a:xfrm>
            <a:off x="457200" y="2800350"/>
            <a:ext cx="11277600" cy="2095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542925" y="28622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86–91</a:t>
            </a:r>
          </a:p>
        </p:txBody>
      </p:sp>
      <p:sp>
        <p:nvSpPr>
          <p:cNvPr id="88" name="Rectangle 88"/>
          <p:cNvSpPr/>
          <p:nvPr/>
        </p:nvSpPr>
        <p:spPr>
          <a:xfrm>
            <a:off x="838200" y="283845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916984" y="287035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438275" y="2862262"/>
            <a:ext cx="404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Multiple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009775" y="2862262"/>
            <a:ext cx="32394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6 × Installers (47820, 47827, 47828, 46711, 26993, 47831, 47833)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248525" y="2862262"/>
            <a:ext cx="14242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Refurbishment &amp; DIO / Driver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058275" y="2862262"/>
            <a:ext cx="15892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With Mr. Islam / Alloy Wheel Line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57200" y="300990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542925" y="30718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92–93</a:t>
            </a:r>
          </a:p>
        </p:txBody>
      </p:sp>
      <p:sp>
        <p:nvSpPr>
          <p:cNvPr id="96" name="Rectangle 96"/>
          <p:cNvSpPr/>
          <p:nvPr/>
        </p:nvSpPr>
        <p:spPr>
          <a:xfrm>
            <a:off x="838200" y="30480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ED6B13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916984" y="30799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2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438275" y="3071812"/>
            <a:ext cx="6541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36718, 47833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009775" y="3071812"/>
            <a:ext cx="11741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Nasruddin / Mahmood Ali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248525" y="3071812"/>
            <a:ext cx="1004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Refurbishment &amp; DIO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9058275" y="3071812"/>
            <a:ext cx="724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With Mr. Islam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457200" y="3219450"/>
            <a:ext cx="11277600" cy="171450"/>
          </a:xfrm>
          <a:prstGeom prst="rect">
            <a:avLst/>
          </a:prstGeom>
          <a:solidFill>
            <a:srgbClr val="28424D">
              <a:alpha val="8000"/>
            </a:srgbClr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542925" y="3262312"/>
            <a:ext cx="12109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Plant 3 — 2 assignments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57200" y="339090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542925" y="34528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12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838200" y="34290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916984" y="34609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3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438275" y="34528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47426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009775" y="3452812"/>
            <a:ext cx="1349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Norul Amin Mohammad Hosan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248525" y="3452812"/>
            <a:ext cx="849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Buffer Inspector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058275" y="3452812"/>
            <a:ext cx="849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Buffer Inspector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457200" y="3600450"/>
            <a:ext cx="11277600" cy="2095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542925" y="36623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13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838200" y="363855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6D8F3B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916984" y="367045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3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38275" y="36623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47165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009775" y="3662362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Mohammed Aslam Ali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248525" y="3662362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Act Sensor Holing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058275" y="3662362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Act Sensor Holing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457200" y="3810000"/>
            <a:ext cx="11277600" cy="171450"/>
          </a:xfrm>
          <a:prstGeom prst="rect">
            <a:avLst/>
          </a:prstGeom>
          <a:solidFill>
            <a:srgbClr val="28424D">
              <a:alpha val="8000"/>
            </a:srgbClr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542925" y="3852862"/>
            <a:ext cx="12109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Plant 4 — 2 assignments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457200" y="3981450"/>
            <a:ext cx="11277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542925" y="404336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15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838200" y="401955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D14545"/>
          </a:solidFill>
          <a:ln>
            <a:noFill/>
          </a:ln>
        </p:spPr>
      </p:sp>
      <p:sp>
        <p:nvSpPr>
          <p:cNvPr id="125" name="TextBox 125"/>
          <p:cNvSpPr txBox="1"/>
          <p:nvPr/>
        </p:nvSpPr>
        <p:spPr>
          <a:xfrm>
            <a:off x="916984" y="405145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4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438275" y="40433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45055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009775" y="4043362"/>
            <a:ext cx="14592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Elsafi Mirgani Mohieldin Banga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7248525" y="4043362"/>
            <a:ext cx="849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Buffer Inspector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457200" y="4191000"/>
            <a:ext cx="11277600" cy="209550"/>
          </a:xfrm>
          <a:prstGeom prst="rect">
            <a:avLst/>
          </a:prstGeom>
          <a:solidFill>
            <a:srgbClr val="F5F2EC"/>
          </a:solidFill>
          <a:ln>
            <a:noFill/>
          </a:ln>
        </p:spPr>
      </p:sp>
      <p:sp>
        <p:nvSpPr>
          <p:cNvPr id="130" name="TextBox 130"/>
          <p:cNvSpPr txBox="1"/>
          <p:nvPr/>
        </p:nvSpPr>
        <p:spPr>
          <a:xfrm>
            <a:off x="542925" y="4252912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16</a:t>
            </a:r>
          </a:p>
        </p:txBody>
      </p:sp>
      <p:sp>
        <p:nvSpPr>
          <p:cNvPr id="131" name="Rectangle 131"/>
          <p:cNvSpPr/>
          <p:nvPr/>
        </p:nvSpPr>
        <p:spPr>
          <a:xfrm>
            <a:off x="838200" y="4229100"/>
            <a:ext cx="476250" cy="133350"/>
          </a:xfrm>
          <a:prstGeom prst="roundRect">
            <a:avLst>
              <a:gd name="adj" fmla="val 14286"/>
            </a:avLst>
          </a:prstGeom>
          <a:solidFill>
            <a:srgbClr val="D14545"/>
          </a:solidFill>
          <a:ln>
            <a:noFill/>
          </a:ln>
        </p:spPr>
      </p:sp>
      <p:sp>
        <p:nvSpPr>
          <p:cNvPr id="132" name="TextBox 132"/>
          <p:cNvSpPr txBox="1"/>
          <p:nvPr/>
        </p:nvSpPr>
        <p:spPr>
          <a:xfrm>
            <a:off x="916984" y="4261009"/>
            <a:ext cx="31868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Plant 4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438275" y="425291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46522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2009775" y="4252912"/>
            <a:ext cx="1109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Amad Miah Younus Miah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7248525" y="4252912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A1F26"/>
                </a:solidFill>
                <a:latin typeface="Segoe UI"/>
                <a:ea typeface="Microsoft YaHei"/>
                <a:cs typeface="Segoe UI"/>
              </a:rPr>
              <a:t>Act Sensor Holing</a:t>
            </a:r>
          </a:p>
        </p:txBody>
      </p:sp>
      <p:sp>
        <p:nvSpPr>
          <p:cNvPr id="136" name="Line 136"/>
          <p:cNvSpPr/>
          <p:nvPr/>
        </p:nvSpPr>
        <p:spPr>
          <a:xfrm>
            <a:off x="457200" y="44005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</p:sp>
      <p:sp>
        <p:nvSpPr>
          <p:cNvPr id="137" name="Rectangle 137"/>
          <p:cNvSpPr/>
          <p:nvPr/>
        </p:nvSpPr>
        <p:spPr>
          <a:xfrm>
            <a:off x="457200" y="4495800"/>
            <a:ext cx="552450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4CC"/>
            </a:solidFill>
          </a:ln>
        </p:spPr>
      </p:sp>
      <p:sp>
        <p:nvSpPr>
          <p:cNvPr id="138" name="TextBox 138"/>
          <p:cNvSpPr txBox="1"/>
          <p:nvPr/>
        </p:nvSpPr>
        <p:spPr>
          <a:xfrm>
            <a:off x="637222" y="4635341"/>
            <a:ext cx="985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Task Distribution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37222" y="4844891"/>
            <a:ext cx="33818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Refurbishment &amp; DIO: 7 | Buffer Inspector: 3 | Sensor Holing: 3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37222" y="5035391"/>
            <a:ext cx="25732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Act Controller: 1 | Act Supervisor: 1 | Driver: 2</a:t>
            </a:r>
          </a:p>
        </p:txBody>
      </p:sp>
      <p:sp>
        <p:nvSpPr>
          <p:cNvPr id="141" name="Rectangle 141"/>
          <p:cNvSpPr/>
          <p:nvPr/>
        </p:nvSpPr>
        <p:spPr>
          <a:xfrm>
            <a:off x="6191250" y="4495800"/>
            <a:ext cx="5543550" cy="762000"/>
          </a:xfrm>
          <a:prstGeom prst="roundRect">
            <a:avLst>
              <a:gd name="adj" fmla="val 5000"/>
            </a:avLst>
          </a:prstGeom>
          <a:solidFill>
            <a:srgbClr val="28424D">
              <a:alpha val="6000"/>
            </a:srgbClr>
          </a:solidFill>
          <a:ln w="9525">
            <a:solidFill>
              <a:srgbClr val="D8D4CC">
                <a:alpha val="6000"/>
              </a:srgbClr>
            </a:solidFill>
          </a:ln>
        </p:spPr>
      </p:sp>
      <p:sp>
        <p:nvSpPr>
          <p:cNvPr id="142" name="TextBox 142"/>
          <p:cNvSpPr txBox="1"/>
          <p:nvPr/>
        </p:nvSpPr>
        <p:spPr>
          <a:xfrm>
            <a:off x="6371272" y="4635341"/>
            <a:ext cx="13666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Total Hours Contributed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351270" y="4846320"/>
            <a:ext cx="164035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8424D"/>
                </a:solidFill>
                <a:latin typeface="Segoe UI"/>
                <a:ea typeface="Microsoft YaHei"/>
                <a:cs typeface="Segoe UI"/>
              </a:rPr>
              <a:t>144.5 hrs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274368" y="5000149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17 × 8.5 hrs</a:t>
            </a:r>
          </a:p>
        </p:txBody>
      </p:sp>
      <p:sp>
        <p:nvSpPr>
          <p:cNvPr id="145" name="Rectangle 145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1F26">
              <a:alpha val="6000"/>
            </a:srgbClr>
          </a:solidFill>
          <a:ln>
            <a:noFill/>
          </a:ln>
        </p:spPr>
      </p:sp>
      <p:sp>
        <p:nvSpPr>
          <p:cNvPr id="146" name="TextBox 146"/>
          <p:cNvSpPr txBox="1"/>
          <p:nvPr/>
        </p:nvSpPr>
        <p:spPr>
          <a:xfrm>
            <a:off x="447675" y="666273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1615261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24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C30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076950"/>
            <a:ext cx="4572000" cy="38100"/>
          </a:xfrm>
          <a:prstGeom prst="rect">
            <a:avLst/>
          </a:prstGeom>
          <a:solidFill>
            <a:srgbClr val="ED6B13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3048000" y="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9144000" y="0"/>
            <a:ext cx="9525" cy="6096000"/>
          </a:xfrm>
          <a:custGeom>
            <a:avLst/>
            <a:gdLst/>
            <a:ahLst/>
            <a:cxnLst/>
            <a:rect l="l" t="t" r="r" b="b"/>
            <a:pathLst>
              <a:path w="9525" h="6096000">
                <a:moveTo>
                  <a:pt x="0" y="0"/>
                </a:moveTo>
                <a:lnTo>
                  <a:pt x="0" y="6096000"/>
                </a:lnTo>
              </a:path>
            </a:pathLst>
          </a:custGeom>
          <a:noFill/>
          <a:ln w="4762">
            <a:solidFill>
              <a:srgbClr val="FFFFFF">
                <a:alpha val="7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739622" y="2363152"/>
            <a:ext cx="712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63875" y="2975610"/>
            <a:ext cx="466425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PIO Daily Report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63769" y="3727132"/>
            <a:ext cx="44644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May 2026 — Abdul Latif Jameel Automotive</a:t>
            </a:r>
          </a:p>
        </p:txBody>
      </p:sp>
      <p:sp>
        <p:nvSpPr>
          <p:cNvPr id="15" name="Line 15"/>
          <p:cNvSpPr/>
          <p:nvPr/>
        </p:nvSpPr>
        <p:spPr>
          <a:xfrm>
            <a:off x="4191000" y="4191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ED6B1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368671" y="4537710"/>
            <a:ext cx="1454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jameelmotors.com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5048250"/>
            <a:ext cx="11277600" cy="762000"/>
          </a:xfrm>
          <a:prstGeom prst="roundRect">
            <a:avLst>
              <a:gd name="adj" fmla="val 5000"/>
            </a:avLst>
          </a:prstGeom>
          <a:solidFill>
            <a:srgbClr val="1C303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2475" y="5233988"/>
            <a:ext cx="5441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Fulfillment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9140" y="5349240"/>
            <a:ext cx="6505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20" name="Line 20"/>
          <p:cNvSpPr/>
          <p:nvPr/>
        </p:nvSpPr>
        <p:spPr>
          <a:xfrm>
            <a:off x="209550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276475" y="5233988"/>
            <a:ext cx="48910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Back Jobs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63140" y="5349240"/>
            <a:ext cx="864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15 MTD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990975" y="5233988"/>
            <a:ext cx="6541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Quality Index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77640" y="5349240"/>
            <a:ext cx="9278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99.70%</a:t>
            </a:r>
          </a:p>
        </p:txBody>
      </p:sp>
      <p:sp>
        <p:nvSpPr>
          <p:cNvPr id="26" name="Line 26"/>
          <p:cNvSpPr/>
          <p:nvPr/>
        </p:nvSpPr>
        <p:spPr>
          <a:xfrm>
            <a:off x="590550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086475" y="5233988"/>
            <a:ext cx="639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Damages MTD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73140" y="5349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29" name="Line 29"/>
          <p:cNvSpPr/>
          <p:nvPr/>
        </p:nvSpPr>
        <p:spPr>
          <a:xfrm>
            <a:off x="695325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134225" y="5233988"/>
            <a:ext cx="4991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Manpower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0890" y="5349240"/>
            <a:ext cx="7892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96.1%</a:t>
            </a:r>
          </a:p>
        </p:txBody>
      </p:sp>
      <p:sp>
        <p:nvSpPr>
          <p:cNvPr id="32" name="Line 32"/>
          <p:cNvSpPr/>
          <p:nvPr/>
        </p:nvSpPr>
        <p:spPr>
          <a:xfrm>
            <a:off x="857250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753475" y="5233988"/>
            <a:ext cx="6791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Incidents MTD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40140" y="5349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D8F3B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35" name="Line 35"/>
          <p:cNvSpPr/>
          <p:nvPr/>
        </p:nvSpPr>
        <p:spPr>
          <a:xfrm>
            <a:off x="10096500" y="5191125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4762">
            <a:solidFill>
              <a:srgbClr val="FFFFFF">
                <a:alpha val="2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277475" y="52339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A939E"/>
                </a:solidFill>
                <a:latin typeface="Segoe UI"/>
                <a:ea typeface="Microsoft YaHei"/>
                <a:cs typeface="Segoe UI"/>
              </a:rPr>
              <a:t>Kaizen YTD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64140" y="5349240"/>
            <a:ext cx="4615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D6B13"/>
                </a:solidFill>
                <a:latin typeface="Segoe UI"/>
                <a:ea typeface="Microsoft YaHei"/>
                <a:cs typeface="Segoe UI"/>
              </a:rPr>
              <a:t>110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43757" y="6300788"/>
            <a:ext cx="35044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© 2026 Abdul Latif Jameel Automotive Company Ltd. All rights reserved.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15261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5A6472"/>
                </a:solidFill>
                <a:latin typeface="Segoe UI"/>
                <a:ea typeface="Microsoft YaHei"/>
                <a:cs typeface="Segoe U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2026-06-14T14:58:16Z</dcterms:created>
  <dcterms:modified xsi:type="dcterms:W3CDTF">2026-06-14T14:58:16Z</dcterms:modified>
  <cp:category/>
  <cp:contentStatus/>
</cp:coreProperties>
</file>